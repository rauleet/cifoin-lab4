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>
  <p:sldMasterIdLst>
    <p:sldMasterId id="2147483648" r:id="rId1"/>
  </p:sldMasterIdLst>
  <p:notesMasterIdLst>
    <p:notesMasterId r:id="rId11"/>
  </p:notesMasterIdLst>
  <p:handoutMasterIdLst>
    <p:handoutMasterId r:id="rId12"/>
  </p:handoutMasterIdLst>
  <p:sldIdLst>
    <p:sldId id="256" r:id="rId2"/>
    <p:sldId id="289" r:id="rId3"/>
    <p:sldId id="290" r:id="rId4"/>
    <p:sldId id="291" r:id="rId5"/>
    <p:sldId id="292" r:id="rId6"/>
    <p:sldId id="293" r:id="rId7"/>
    <p:sldId id="294" r:id="rId8"/>
    <p:sldId id="295" r:id="rId9"/>
    <p:sldId id="288" r:id="rId10"/>
  </p:sldIdLst>
  <p:sldSz cx="12192000" cy="6858000"/>
  <p:notesSz cx="12192000" cy="6858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5517" autoAdjust="0"/>
    <p:restoredTop sz="95033" autoAdjust="0"/>
  </p:normalViewPr>
  <p:slideViewPr>
    <p:cSldViewPr>
      <p:cViewPr varScale="1">
        <p:scale>
          <a:sx n="127" d="100"/>
          <a:sy n="127" d="100"/>
        </p:scale>
        <p:origin x="1176" y="192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83" d="100"/>
          <a:sy n="83" d="100"/>
        </p:scale>
        <p:origin x="1392" y="6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>
            <a:extLst>
              <a:ext uri="{FF2B5EF4-FFF2-40B4-BE49-F238E27FC236}">
                <a16:creationId xmlns:a16="http://schemas.microsoft.com/office/drawing/2014/main" id="{ADD96E76-517F-B468-04D8-38EFA44947E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8678D0B9-782A-7C16-D731-EEB7F991FA7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438F8DC-35B0-48E6-A86E-42F1F08DD00F}" type="datetimeFigureOut">
              <a:rPr lang="es-ES" smtClean="0"/>
              <a:t>25/5/26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2F2E7B1C-60E2-8A48-EEE0-6715FC30A8B7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C428D795-4EA2-62F0-B78A-5F215C828C5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116A549-763A-4A89-A454-A94BAF51395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40347774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ACBDC12-F39B-4B97-8F4D-6734F9D366FF}" type="datetimeFigureOut">
              <a:rPr lang="es-ES" smtClean="0"/>
              <a:t>25/5/26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4038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1219200" y="3300413"/>
            <a:ext cx="97536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76223B9-C868-4436-87D9-1A3152E1157A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8342111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09253237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087AEC-015A-4808-9AC9-382D824E43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7FC03EDA-741F-B6F5-3444-A8D74D690A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C7839219-55CF-753A-3C53-04F6B1E289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D04B99BF-32CC-B000-CB3E-0CD66FF7CA7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68764247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E2BF37-98F6-CD9B-2255-0A64B5CEA4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AB68927E-2442-0553-FBC8-D3C32BCC5C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36130D77-4D33-EE41-3A9E-4EB6D24190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75BAC07D-EBC4-F68A-7BE7-2B2DCCECD5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88543109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0988B3-C141-4645-2F2A-A09F408267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EB22BAD8-B0CC-3164-3027-A210D7EB75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33995D4B-1202-927A-28C9-66F35C33AE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0156FFEE-1184-FFA2-1E7F-CC9E8439AC5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109534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D9EAE7-9EAB-544B-26F0-D89AD57C0B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77142DDC-39F3-B8EF-C550-B1BDBF79832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214E7676-8E00-A60E-B890-D4F612C9A5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8F8AAF8C-62CF-3619-1C70-91E48BE9A4C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7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16310479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4169CA-A6E9-D0C3-4D3A-6AF9089104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DEC97DB9-2632-3700-0312-BB76DC46DE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4A897758-8CC0-1479-13D7-87B5FBD747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5060DEFB-1A44-3354-5B15-298FF8A1008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8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7645940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14400" y="2125980"/>
            <a:ext cx="10363200" cy="1440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15"/>
              </a:spcBef>
            </a:pPr>
            <a:r>
              <a:rPr lang="es-ES" spc="-5"/>
              <a:t>LAB 4.0. LAYOUT</a:t>
            </a:r>
            <a:endParaRPr spc="-5"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590550" y="206752"/>
            <a:ext cx="10991850" cy="307777"/>
          </a:xfrm>
        </p:spPr>
        <p:txBody>
          <a:bodyPr lIns="0" tIns="0" rIns="0" bIns="0"/>
          <a:lstStyle>
            <a:lvl1pPr>
              <a:defRPr sz="2000" b="1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 dirty="0"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09600" y="2152910"/>
            <a:ext cx="10972800" cy="3950710"/>
          </a:xfrm>
        </p:spPr>
        <p:txBody>
          <a:bodyPr lIns="0" tIns="0" rIns="0" bIns="0"/>
          <a:lstStyle>
            <a:lvl1pPr>
              <a:defRPr/>
            </a:lvl1pPr>
          </a:lstStyle>
          <a:p>
            <a:endParaRPr dirty="0"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609600" y="6457057"/>
            <a:ext cx="2743200" cy="184666"/>
          </a:xfrm>
        </p:spPr>
        <p:txBody>
          <a:bodyPr lIns="0" tIns="0" rIns="0" bIns="0" anchor="ctr"/>
          <a:lstStyle>
            <a:lvl1pPr>
              <a:defRPr sz="12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spcBef>
                <a:spcPts val="15"/>
              </a:spcBef>
            </a:pPr>
            <a:r>
              <a:rPr lang="es-ES" spc="-5"/>
              <a:t>LAB 4.0. LAYOUT</a:t>
            </a:r>
            <a:endParaRPr lang="es-ES" spc="-5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9311640" y="6377940"/>
            <a:ext cx="2804160" cy="342900"/>
          </a:xfrm>
        </p:spPr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6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15"/>
              </a:spcBef>
            </a:pPr>
            <a:r>
              <a:rPr lang="es-ES" spc="-5"/>
              <a:t>LAB 4.0. LAYOUT</a:t>
            </a:r>
            <a:endParaRPr spc="-5" dirty="0"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0" y="2636520"/>
            <a:ext cx="3944620" cy="1584960"/>
          </a:xfrm>
          <a:custGeom>
            <a:avLst/>
            <a:gdLst/>
            <a:ahLst/>
            <a:cxnLst/>
            <a:rect l="l" t="t" r="r" b="b"/>
            <a:pathLst>
              <a:path w="3944620" h="1584960">
                <a:moveTo>
                  <a:pt x="0" y="1584959"/>
                </a:moveTo>
                <a:lnTo>
                  <a:pt x="3944112" y="1584959"/>
                </a:lnTo>
                <a:lnTo>
                  <a:pt x="3944112" y="0"/>
                </a:lnTo>
                <a:lnTo>
                  <a:pt x="0" y="0"/>
                </a:lnTo>
                <a:lnTo>
                  <a:pt x="0" y="1584959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k object 17"/>
          <p:cNvSpPr/>
          <p:nvPr/>
        </p:nvSpPr>
        <p:spPr>
          <a:xfrm>
            <a:off x="771144" y="2951988"/>
            <a:ext cx="2403348" cy="954024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6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>
          <a:xfrm>
            <a:off x="9296400" y="6377940"/>
            <a:ext cx="2804160" cy="342900"/>
          </a:xfrm>
        </p:spPr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  <p:pic>
        <p:nvPicPr>
          <p:cNvPr id="6" name="Gráfico 5">
            <a:extLst>
              <a:ext uri="{FF2B5EF4-FFF2-40B4-BE49-F238E27FC236}">
                <a16:creationId xmlns:a16="http://schemas.microsoft.com/office/drawing/2014/main" id="{F5CB4B75-CC85-5F87-B13B-97FD63FFBC5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91213" y="6357666"/>
            <a:ext cx="6409575" cy="36317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594327" y="4722313"/>
            <a:ext cx="1521016" cy="1253853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>
          <a:xfrm>
            <a:off x="9372600" y="6377940"/>
            <a:ext cx="2804160" cy="342900"/>
          </a:xfrm>
        </p:spPr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  <p:pic>
        <p:nvPicPr>
          <p:cNvPr id="5" name="Gráfico 4">
            <a:extLst>
              <a:ext uri="{FF2B5EF4-FFF2-40B4-BE49-F238E27FC236}">
                <a16:creationId xmlns:a16="http://schemas.microsoft.com/office/drawing/2014/main" id="{9F3DE434-B07E-429D-5547-0D42DA9B05A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xto sim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47"/>
          <p:cNvSpPr/>
          <p:nvPr userDrawn="1"/>
        </p:nvSpPr>
        <p:spPr>
          <a:xfrm>
            <a:off x="608171" y="381001"/>
            <a:ext cx="45731" cy="68349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9" name="Título 8"/>
          <p:cNvSpPr>
            <a:spLocks noGrp="1"/>
          </p:cNvSpPr>
          <p:nvPr>
            <p:ph type="title" hasCustomPrompt="1"/>
          </p:nvPr>
        </p:nvSpPr>
        <p:spPr>
          <a:xfrm>
            <a:off x="736652" y="381000"/>
            <a:ext cx="7778317" cy="313782"/>
          </a:xfrm>
        </p:spPr>
        <p:txBody>
          <a:bodyPr>
            <a:normAutofit/>
          </a:bodyPr>
          <a:lstStyle>
            <a:lvl1pPr algn="l">
              <a:defRPr sz="2800" b="1" i="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 pitchFamily="34" charset="0"/>
                <a:ea typeface="Open Sans Extrabold" panose="020B0906030804020204" pitchFamily="34" charset="0"/>
                <a:cs typeface="Calibri" panose="020F0502020204030204" pitchFamily="34" charset="0"/>
              </a:defRPr>
            </a:lvl1pPr>
          </a:lstStyle>
          <a:p>
            <a:r>
              <a:rPr lang="es-ES" dirty="0"/>
              <a:t>TITULO</a:t>
            </a:r>
          </a:p>
        </p:txBody>
      </p:sp>
      <p:sp>
        <p:nvSpPr>
          <p:cNvPr id="13" name="Marcador de texto 12"/>
          <p:cNvSpPr>
            <a:spLocks noGrp="1"/>
          </p:cNvSpPr>
          <p:nvPr>
            <p:ph type="body" sz="quarter" idx="10" hasCustomPrompt="1"/>
          </p:nvPr>
        </p:nvSpPr>
        <p:spPr>
          <a:xfrm>
            <a:off x="608171" y="1295401"/>
            <a:ext cx="11051877" cy="4958137"/>
          </a:xfrm>
        </p:spPr>
        <p:txBody>
          <a:bodyPr>
            <a:normAutofit/>
          </a:bodyPr>
          <a:lstStyle>
            <a:lvl1pPr>
              <a:defRPr sz="2400" baseline="0">
                <a:latin typeface="Calibri" panose="020F0502020204030204" pitchFamily="34" charset="0"/>
                <a:ea typeface="Open Sans Light" panose="020B0306030504020204" pitchFamily="34" charset="0"/>
                <a:cs typeface="Calibri" panose="020F0502020204030204" pitchFamily="34" charset="0"/>
              </a:defRPr>
            </a:lvl1pPr>
            <a:lvl2pPr>
              <a:defRPr sz="1800">
                <a:latin typeface="Calibri" panose="020F0502020204030204" pitchFamily="34" charset="0"/>
                <a:ea typeface="Open Sans Light" panose="020B0306030504020204" pitchFamily="34" charset="0"/>
                <a:cs typeface="Calibri" panose="020F0502020204030204" pitchFamily="34" charset="0"/>
              </a:defRPr>
            </a:lvl2pPr>
            <a:lvl3pPr>
              <a:defRPr sz="1600">
                <a:latin typeface="Calibri" panose="020F0502020204030204" pitchFamily="34" charset="0"/>
                <a:ea typeface="Open Sans Light" panose="020B0306030504020204" pitchFamily="34" charset="0"/>
                <a:cs typeface="Calibri" panose="020F0502020204030204" pitchFamily="34" charset="0"/>
              </a:defRPr>
            </a:lvl3pPr>
            <a:lvl4pPr>
              <a:defRPr sz="1400">
                <a:latin typeface="Calibri" panose="020F0502020204030204" pitchFamily="34" charset="0"/>
                <a:ea typeface="Open Sans Light" panose="020B0306030504020204" pitchFamily="34" charset="0"/>
                <a:cs typeface="Calibri" panose="020F0502020204030204" pitchFamily="34" charset="0"/>
              </a:defRPr>
            </a:lvl4pPr>
            <a:lvl5pPr>
              <a:defRPr sz="1400">
                <a:latin typeface="Calibri" panose="020F0502020204030204" pitchFamily="34" charset="0"/>
                <a:ea typeface="Open Sans Light" panose="020B0306030504020204" pitchFamily="34" charset="0"/>
                <a:cs typeface="Calibri" panose="020F0502020204030204" pitchFamily="34" charset="0"/>
              </a:defRPr>
            </a:lvl5pPr>
          </a:lstStyle>
          <a:p>
            <a:pPr lvl="0"/>
            <a:r>
              <a:rPr lang="es-ES" dirty="0"/>
              <a:t>Texto del contenido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</a:p>
        </p:txBody>
      </p:sp>
      <p:sp>
        <p:nvSpPr>
          <p:cNvPr id="23" name="Marcador de texto 22"/>
          <p:cNvSpPr>
            <a:spLocks noGrp="1"/>
          </p:cNvSpPr>
          <p:nvPr>
            <p:ph type="body" sz="quarter" idx="11" hasCustomPrompt="1"/>
          </p:nvPr>
        </p:nvSpPr>
        <p:spPr>
          <a:xfrm>
            <a:off x="736652" y="730647"/>
            <a:ext cx="7778317" cy="381000"/>
          </a:xfrm>
        </p:spPr>
        <p:txBody>
          <a:bodyPr>
            <a:noAutofit/>
          </a:bodyPr>
          <a:lstStyle>
            <a:lvl1pPr marL="0" indent="0">
              <a:buNone/>
              <a:defRPr sz="2000">
                <a:latin typeface="Calibri" panose="020F0502020204030204" pitchFamily="34" charset="0"/>
                <a:ea typeface="Open Sans Light" panose="020B030603050402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es-ES" dirty="0"/>
              <a:t>Subtítulo del artículo con una explicación corta a modo resumen</a:t>
            </a:r>
          </a:p>
        </p:txBody>
      </p:sp>
      <p:sp>
        <p:nvSpPr>
          <p:cNvPr id="11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87407"/>
            <a:ext cx="1980287" cy="303019"/>
          </a:xfrm>
          <a:prstGeom prst="rect">
            <a:avLst/>
          </a:prstGeom>
        </p:spPr>
        <p:txBody>
          <a:bodyPr vert="horz" lIns="117208" tIns="58604" rIns="117208" bIns="58604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2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894768" y="6387407"/>
            <a:ext cx="6402465" cy="303019"/>
          </a:xfrm>
          <a:prstGeom prst="rect">
            <a:avLst/>
          </a:prstGeom>
        </p:spPr>
        <p:txBody>
          <a:bodyPr vert="horz" lIns="117208" tIns="58604" rIns="117208" bIns="58604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LAB 4.0. LAYOUT</a:t>
            </a:r>
          </a:p>
        </p:txBody>
      </p:sp>
      <p:sp>
        <p:nvSpPr>
          <p:cNvPr id="14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431389" y="6388096"/>
            <a:ext cx="760611" cy="303019"/>
          </a:xfrm>
          <a:prstGeom prst="rect">
            <a:avLst/>
          </a:prstGeom>
          <a:solidFill>
            <a:schemeClr val="bg2"/>
          </a:solidFill>
        </p:spPr>
        <p:txBody>
          <a:bodyPr vert="horz" lIns="117208" tIns="58604" rIns="117208" bIns="58604" rtlCol="0" anchor="ctr"/>
          <a:lstStyle>
            <a:lvl1pPr algn="r">
              <a:defRPr sz="1200">
                <a:solidFill>
                  <a:srgbClr val="FF6309"/>
                </a:solidFill>
              </a:defRPr>
            </a:lvl1pPr>
          </a:lstStyle>
          <a:p>
            <a:fld id="{C2F52289-4012-4053-9770-FE82CEB9514F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2464038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39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891539" y="5283707"/>
            <a:ext cx="2624328" cy="1574289"/>
          </a:xfrm>
          <a:prstGeom prst="rect">
            <a:avLst/>
          </a:prstGeom>
          <a:blipFill>
            <a:blip r:embed="rId8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986910" y="1699005"/>
            <a:ext cx="2599054" cy="26923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6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09600" y="1577340"/>
            <a:ext cx="1097280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5695950" y="6465068"/>
            <a:ext cx="1210945" cy="153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9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15"/>
              </a:spcBef>
            </a:pPr>
            <a:r>
              <a:rPr lang="es-ES" spc="-5"/>
              <a:t>LAB 4.0. LAYOUT</a:t>
            </a:r>
            <a:endParaRPr spc="-5"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931164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</p:sldLayoutIdLst>
  <p:hf hdr="0" dt="0"/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pascualmunoz/cifoin-lab4.git" TargetMode="External"/><Relationship Id="rId2" Type="http://schemas.openxmlformats.org/officeDocument/2006/relationships/image" Target="../media/image3.sv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/>
          <p:nvPr/>
        </p:nvSpPr>
        <p:spPr>
          <a:xfrm>
            <a:off x="2749676" y="4919853"/>
            <a:ext cx="9213724" cy="50526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ES" sz="3200" b="1" dirty="0">
                <a:latin typeface="Lucida Sans"/>
                <a:cs typeface="Lucida Sans"/>
              </a:rPr>
              <a:t>Lab Book 4.0 </a:t>
            </a:r>
            <a:r>
              <a:rPr lang="es-ES" sz="3200" b="1">
                <a:latin typeface="Lucida Sans"/>
                <a:cs typeface="Lucida Sans"/>
              </a:rPr>
              <a:t>Layout</a:t>
            </a:r>
            <a:endParaRPr sz="3200" dirty="0">
              <a:latin typeface="Lucida Sans"/>
              <a:cs typeface="Lucida Sans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749676" y="5610250"/>
            <a:ext cx="8223124" cy="28982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ES" spc="165" dirty="0" err="1">
                <a:latin typeface="Arial"/>
                <a:cs typeface="Arial"/>
              </a:rPr>
              <a:t>Student</a:t>
            </a:r>
            <a:r>
              <a:rPr lang="es-ES" spc="165" dirty="0">
                <a:latin typeface="Arial"/>
                <a:cs typeface="Arial"/>
              </a:rPr>
              <a:t>: </a:t>
            </a:r>
            <a:endParaRPr sz="1800" dirty="0">
              <a:latin typeface="Arial"/>
              <a:cs typeface="Arial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0" y="0"/>
            <a:ext cx="12192000" cy="4189476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F6F66F51-9238-50FE-85C2-BAC3DA79D767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</a:t>
            </a:fld>
            <a:endParaRPr lang="es-E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48A4D4-C3C4-085B-A7AD-EA04D83F48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1B7433F1-7A0E-D925-6140-7305139D053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6153785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ES" sz="2500" u="sng" spc="-5" dirty="0" err="1">
                <a:latin typeface="+mj-lt"/>
                <a:cs typeface="Lucida Sans"/>
              </a:rPr>
              <a:t>Instructions</a:t>
            </a:r>
            <a:br>
              <a:rPr lang="es-ES" sz="2400" spc="-5" dirty="0">
                <a:latin typeface="+mj-lt"/>
                <a:cs typeface="Lucida Sans"/>
              </a:rPr>
            </a:br>
            <a:r>
              <a:rPr lang="es-ES" b="0" spc="-5" dirty="0">
                <a:latin typeface="+mj-lt"/>
                <a:cs typeface="Lucida Sans"/>
              </a:rPr>
              <a:t>General</a:t>
            </a:r>
            <a:endParaRPr sz="24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E518E73B-CE22-A00C-9C86-634FB762EE6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1E163A6B-DFE4-C67D-5F3E-A56ACEF2EA4C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2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95FC84FF-30D3-FDAB-0A5A-0F07F8EE1161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4.0. LAYOUT</a:t>
            </a:r>
            <a:endParaRPr lang="es-ES" spc="-5" dirty="0"/>
          </a:p>
        </p:txBody>
      </p:sp>
      <p:sp>
        <p:nvSpPr>
          <p:cNvPr id="4" name="Marcador de texto 2">
            <a:extLst>
              <a:ext uri="{FF2B5EF4-FFF2-40B4-BE49-F238E27FC236}">
                <a16:creationId xmlns:a16="http://schemas.microsoft.com/office/drawing/2014/main" id="{9F7BC140-B3D8-C3CB-55AD-9064C7CDE9CA}"/>
              </a:ext>
            </a:extLst>
          </p:cNvPr>
          <p:cNvSpPr txBox="1">
            <a:spLocks/>
          </p:cNvSpPr>
          <p:nvPr/>
        </p:nvSpPr>
        <p:spPr>
          <a:xfrm>
            <a:off x="608011" y="1163263"/>
            <a:ext cx="11048999" cy="4958137"/>
          </a:xfrm>
          <a:prstGeom prst="rect">
            <a:avLst/>
          </a:prstGeom>
        </p:spPr>
        <p:txBody>
          <a:bodyPr>
            <a:normAutofit/>
          </a:bodyPr>
          <a:lstStyle>
            <a:lvl1pPr marL="0">
              <a:defRPr>
                <a:latin typeface="+mn-lt"/>
                <a:ea typeface="+mn-ea"/>
                <a:cs typeface="+mn-cs"/>
              </a:defRPr>
            </a:lvl1pPr>
            <a:lvl2pPr marL="457200">
              <a:defRPr>
                <a:latin typeface="+mn-lt"/>
                <a:ea typeface="+mn-ea"/>
                <a:cs typeface="+mn-cs"/>
              </a:defRPr>
            </a:lvl2pPr>
            <a:lvl3pPr marL="914400">
              <a:defRPr>
                <a:latin typeface="+mn-lt"/>
                <a:ea typeface="+mn-ea"/>
                <a:cs typeface="+mn-cs"/>
              </a:defRPr>
            </a:lvl3pPr>
            <a:lvl4pPr marL="1371600">
              <a:defRPr>
                <a:latin typeface="+mn-lt"/>
                <a:ea typeface="+mn-ea"/>
                <a:cs typeface="+mn-cs"/>
              </a:defRPr>
            </a:lvl4pPr>
            <a:lvl5pPr marL="1828800">
              <a:defRPr>
                <a:latin typeface="+mn-lt"/>
                <a:ea typeface="+mn-ea"/>
                <a:cs typeface="+mn-cs"/>
              </a:defRPr>
            </a:lvl5pPr>
            <a:lvl6pPr marL="2286000">
              <a:defRPr>
                <a:latin typeface="+mn-lt"/>
                <a:ea typeface="+mn-ea"/>
                <a:cs typeface="+mn-cs"/>
              </a:defRPr>
            </a:lvl6pPr>
            <a:lvl7pPr marL="2743200">
              <a:defRPr>
                <a:latin typeface="+mn-lt"/>
                <a:ea typeface="+mn-ea"/>
                <a:cs typeface="+mn-cs"/>
              </a:defRPr>
            </a:lvl7pPr>
            <a:lvl8pPr marL="3200400">
              <a:defRPr>
                <a:latin typeface="+mn-lt"/>
                <a:ea typeface="+mn-ea"/>
                <a:cs typeface="+mn-cs"/>
              </a:defRPr>
            </a:lvl8pPr>
            <a:lvl9pPr marL="3657600">
              <a:defRPr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en-US" sz="2000" b="1" kern="0" dirty="0">
                <a:solidFill>
                  <a:sysClr val="windowText" lastClr="000000"/>
                </a:solidFill>
                <a:sym typeface="Wingdings" pitchFamily="2" charset="2"/>
              </a:rPr>
              <a:t>SCRIPTS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  <a:sym typeface="Wingdings" pitchFamily="2" charset="2"/>
              </a:rPr>
              <a:t>From 	GitHub  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  <a:sym typeface="Wingdings" pitchFamily="2" charset="2"/>
              </a:rPr>
              <a:t>Fork the repo: </a:t>
            </a:r>
            <a:r>
              <a:rPr lang="en-US" kern="0" dirty="0">
                <a:solidFill>
                  <a:sysClr val="windowText" lastClr="000000"/>
                </a:solidFill>
                <a:sym typeface="Wingdings" pitchFamily="2" charset="2"/>
                <a:hlinkClick r:id="rId3"/>
              </a:rPr>
              <a:t>https://github.com/pascualmunoz/cifoin-lab4.git</a:t>
            </a:r>
            <a:endParaRPr lang="en-US" kern="0" dirty="0">
              <a:solidFill>
                <a:sysClr val="windowText" lastClr="000000"/>
              </a:solidFill>
              <a:sym typeface="Wingdings" pitchFamily="2" charset="2"/>
            </a:endParaRP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  <a:sym typeface="Wingdings" pitchFamily="2" charset="2"/>
              </a:rPr>
              <a:t>Clone the repo using </a:t>
            </a:r>
            <a:r>
              <a:rPr lang="en-US" kern="0" dirty="0" err="1">
                <a:solidFill>
                  <a:sysClr val="windowText" lastClr="000000"/>
                </a:solidFill>
                <a:sym typeface="Wingdings" pitchFamily="2" charset="2"/>
              </a:rPr>
              <a:t>VSCode</a:t>
            </a:r>
            <a:endParaRPr lang="en-US" kern="0" dirty="0">
              <a:solidFill>
                <a:sysClr val="windowText" lastClr="000000"/>
              </a:solidFill>
              <a:sym typeface="Wingdings" pitchFamily="2" charset="2"/>
            </a:endParaRP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  <a:sym typeface="Wingdings" pitchFamily="2" charset="2"/>
              </a:rPr>
              <a:t>Open folder / repo in </a:t>
            </a:r>
            <a:r>
              <a:rPr lang="en-US" kern="0" dirty="0" err="1">
                <a:solidFill>
                  <a:sysClr val="windowText" lastClr="000000"/>
                </a:solidFill>
                <a:sym typeface="Wingdings" pitchFamily="2" charset="2"/>
              </a:rPr>
              <a:t>VSCode</a:t>
            </a:r>
            <a:endParaRPr lang="en-US" kern="0" dirty="0">
              <a:solidFill>
                <a:sysClr val="windowText" lastClr="000000"/>
              </a:solidFill>
              <a:sym typeface="Wingdings" pitchFamily="2" charset="2"/>
            </a:endParaRP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  <a:sym typeface="Wingdings" pitchFamily="2" charset="2"/>
              </a:rPr>
              <a:t>Open terminal: </a:t>
            </a:r>
            <a:r>
              <a:rPr lang="en-US" kern="0" dirty="0" err="1">
                <a:solidFill>
                  <a:sysClr val="windowText" lastClr="000000"/>
                </a:solidFill>
                <a:sym typeface="Wingdings" pitchFamily="2" charset="2"/>
              </a:rPr>
              <a:t>uv</a:t>
            </a:r>
            <a:r>
              <a:rPr lang="en-US" kern="0" dirty="0">
                <a:solidFill>
                  <a:sysClr val="windowText" lastClr="000000"/>
                </a:solidFill>
                <a:sym typeface="Wingdings" pitchFamily="2" charset="2"/>
              </a:rPr>
              <a:t> sync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</a:rPr>
              <a:t>Run the </a:t>
            </a:r>
            <a:r>
              <a:rPr lang="en-US" kern="0" dirty="0" err="1">
                <a:solidFill>
                  <a:sysClr val="windowText" lastClr="000000"/>
                </a:solidFill>
              </a:rPr>
              <a:t>Jupyter</a:t>
            </a:r>
            <a:r>
              <a:rPr lang="en-US" kern="0" dirty="0">
                <a:solidFill>
                  <a:sysClr val="windowText" lastClr="000000"/>
                </a:solidFill>
              </a:rPr>
              <a:t> Notebook: 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n-US" kern="0" dirty="0" err="1">
                <a:solidFill>
                  <a:sysClr val="windowText" lastClr="000000"/>
                </a:solidFill>
              </a:rPr>
              <a:t>LAYOUT_STUDENT.ipynb</a:t>
            </a:r>
            <a:r>
              <a:rPr lang="en-US" kern="0" dirty="0">
                <a:solidFill>
                  <a:sysClr val="windowText" lastClr="000000"/>
                </a:solidFill>
              </a:rPr>
              <a:t> 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endParaRPr lang="en-US" kern="0" dirty="0">
              <a:solidFill>
                <a:sysClr val="windowText" lastClr="000000"/>
              </a:solidFill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b="1" kern="0" dirty="0">
                <a:solidFill>
                  <a:srgbClr val="FF0000"/>
                </a:solidFill>
              </a:rPr>
              <a:t>Points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n-US" b="1" kern="0" dirty="0">
                <a:solidFill>
                  <a:srgbClr val="FF0000"/>
                </a:solidFill>
              </a:rPr>
              <a:t>LO1: 3 points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n-US" b="1" kern="0" dirty="0">
                <a:solidFill>
                  <a:srgbClr val="FF0000"/>
                </a:solidFill>
              </a:rPr>
              <a:t>LO2: 3 points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n-US" b="1" kern="0" dirty="0">
                <a:solidFill>
                  <a:srgbClr val="FF0000"/>
                </a:solidFill>
              </a:rPr>
              <a:t>LO3: 1 points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n-US" b="1" kern="0" dirty="0">
                <a:solidFill>
                  <a:srgbClr val="FF0000"/>
                </a:solidFill>
              </a:rPr>
              <a:t>LO4: 3 points</a:t>
            </a:r>
          </a:p>
          <a:p>
            <a:pPr algn="just"/>
            <a:endParaRPr lang="en-US" b="1" i="1" dirty="0"/>
          </a:p>
          <a:p>
            <a:pPr algn="just"/>
            <a:endParaRPr lang="en-US" sz="2000" b="1" i="1" dirty="0"/>
          </a:p>
          <a:p>
            <a:pPr algn="just"/>
            <a:endParaRPr lang="en-US" sz="2000" kern="0" dirty="0"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602346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80DA9C-35AF-A1D7-01E5-BFD9DEF155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471E1424-6C4B-2D9A-1352-30AFB987AD4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#1a – Notebook section 1. Technology</a:t>
            </a:r>
            <a:br>
              <a:rPr lang="es-ES" sz="2500" spc="-5" dirty="0">
                <a:latin typeface="+mj-lt"/>
                <a:cs typeface="Lucida Sans"/>
              </a:rPr>
            </a:br>
            <a:r>
              <a:rPr lang="es-ES" b="0" i="1" spc="-5" dirty="0">
                <a:latin typeface="+mj-lt"/>
              </a:rPr>
              <a:t>“</a:t>
            </a:r>
            <a:r>
              <a:rPr lang="es-ES" b="0" i="1" spc="-5" dirty="0" err="1">
                <a:latin typeface="+mj-lt"/>
              </a:rPr>
              <a:t>We</a:t>
            </a:r>
            <a:r>
              <a:rPr lang="es-ES" b="0" i="1" spc="-5" dirty="0">
                <a:latin typeface="+mj-lt"/>
              </a:rPr>
              <a:t> </a:t>
            </a:r>
            <a:r>
              <a:rPr lang="es-ES" b="0" i="1" spc="-5" dirty="0" err="1">
                <a:latin typeface="+mj-lt"/>
              </a:rPr>
              <a:t>will</a:t>
            </a:r>
            <a:r>
              <a:rPr lang="es-ES" b="0" i="1" spc="-5" dirty="0">
                <a:latin typeface="+mj-lt"/>
              </a:rPr>
              <a:t> </a:t>
            </a:r>
            <a:r>
              <a:rPr lang="es-ES" b="0" i="1" spc="-5" dirty="0" err="1">
                <a:latin typeface="+mj-lt"/>
              </a:rPr>
              <a:t>work</a:t>
            </a:r>
            <a:r>
              <a:rPr lang="es-ES" b="0" i="1" spc="-5" dirty="0">
                <a:latin typeface="+mj-lt"/>
                <a:cs typeface="Lucida Sans"/>
              </a:rPr>
              <a:t> </a:t>
            </a:r>
            <a:r>
              <a:rPr lang="es-ES" b="0" i="1" spc="-5" dirty="0" err="1">
                <a:latin typeface="+mj-lt"/>
                <a:cs typeface="Lucida Sans"/>
              </a:rPr>
              <a:t>with</a:t>
            </a:r>
            <a:r>
              <a:rPr lang="es-ES" b="0" i="1" spc="-5" dirty="0">
                <a:latin typeface="+mj-lt"/>
                <a:cs typeface="Lucida Sans"/>
              </a:rPr>
              <a:t> </a:t>
            </a:r>
            <a:r>
              <a:rPr lang="es-ES" b="0" i="1" spc="-5" dirty="0" err="1">
                <a:latin typeface="+mj-lt"/>
                <a:cs typeface="Lucida Sans"/>
              </a:rPr>
              <a:t>the</a:t>
            </a:r>
            <a:r>
              <a:rPr lang="es-ES" b="0" i="1" spc="-5" dirty="0">
                <a:latin typeface="+mj-lt"/>
                <a:cs typeface="Lucida Sans"/>
              </a:rPr>
              <a:t> demo UPVfab PDK. </a:t>
            </a:r>
            <a:r>
              <a:rPr lang="es-ES" b="0" i="1" spc="-5" dirty="0" err="1">
                <a:latin typeface="+mj-lt"/>
                <a:cs typeface="Lucida Sans"/>
              </a:rPr>
              <a:t>Let's</a:t>
            </a:r>
            <a:r>
              <a:rPr lang="es-ES" b="0" i="1" spc="-5" dirty="0">
                <a:latin typeface="+mj-lt"/>
                <a:cs typeface="Lucida Sans"/>
              </a:rPr>
              <a:t> </a:t>
            </a:r>
            <a:r>
              <a:rPr lang="es-ES" b="0" i="1" spc="-5" dirty="0" err="1">
                <a:latin typeface="+mj-lt"/>
                <a:cs typeface="Lucida Sans"/>
              </a:rPr>
              <a:t>view</a:t>
            </a:r>
            <a:r>
              <a:rPr lang="es-ES" b="0" i="1" spc="-5" dirty="0">
                <a:latin typeface="+mj-lt"/>
                <a:cs typeface="Lucida Sans"/>
              </a:rPr>
              <a:t> </a:t>
            </a:r>
            <a:r>
              <a:rPr lang="es-ES" b="0" i="1" spc="-5" dirty="0" err="1">
                <a:latin typeface="+mj-lt"/>
                <a:cs typeface="Lucida Sans"/>
              </a:rPr>
              <a:t>the</a:t>
            </a:r>
            <a:r>
              <a:rPr lang="es-ES" b="0" i="1" spc="-5" dirty="0">
                <a:latin typeface="+mj-lt"/>
                <a:cs typeface="Lucida Sans"/>
              </a:rPr>
              <a:t> </a:t>
            </a:r>
            <a:r>
              <a:rPr lang="es-ES" b="0" i="1" spc="-5" dirty="0" err="1">
                <a:latin typeface="+mj-lt"/>
                <a:cs typeface="Lucida Sans"/>
              </a:rPr>
              <a:t>layer</a:t>
            </a:r>
            <a:r>
              <a:rPr lang="es-ES" b="0" i="1" spc="-5" dirty="0">
                <a:latin typeface="+mj-lt"/>
                <a:cs typeface="Lucida Sans"/>
              </a:rPr>
              <a:t> </a:t>
            </a:r>
            <a:r>
              <a:rPr lang="es-ES" b="0" i="1" spc="-5" dirty="0" err="1">
                <a:latin typeface="+mj-lt"/>
                <a:cs typeface="Lucida Sans"/>
              </a:rPr>
              <a:t>distribution</a:t>
            </a:r>
            <a:r>
              <a:rPr lang="es-ES" b="0" i="1" spc="-5" dirty="0">
                <a:latin typeface="+mj-lt"/>
                <a:cs typeface="Lucida Sans"/>
              </a:rPr>
              <a:t> </a:t>
            </a:r>
            <a:r>
              <a:rPr lang="es-ES" b="0" i="1" spc="-5" dirty="0" err="1">
                <a:latin typeface="+mj-lt"/>
                <a:cs typeface="Lucida Sans"/>
              </a:rPr>
              <a:t>of</a:t>
            </a:r>
            <a:r>
              <a:rPr lang="es-ES" b="0" i="1" spc="-5" dirty="0">
                <a:latin typeface="+mj-lt"/>
                <a:cs typeface="Lucida Sans"/>
              </a:rPr>
              <a:t> </a:t>
            </a:r>
            <a:r>
              <a:rPr lang="es-ES" b="0" i="1" spc="-5" dirty="0" err="1">
                <a:latin typeface="+mj-lt"/>
                <a:cs typeface="Lucida Sans"/>
              </a:rPr>
              <a:t>this</a:t>
            </a:r>
            <a:r>
              <a:rPr lang="es-ES" b="0" i="1" spc="-5" dirty="0">
                <a:latin typeface="+mj-lt"/>
                <a:cs typeface="Lucida Sans"/>
              </a:rPr>
              <a:t> PDK”</a:t>
            </a:r>
            <a:endParaRPr sz="2500" b="0" i="1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9DCFD462-4416-65F8-5696-B0135B63276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293F5C1D-AFFF-4EA6-CA59-6503F34EBF5F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3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34F13AC1-9668-7266-DF5B-D7CE084AB044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4.0. LAYOUT</a:t>
            </a:r>
            <a:endParaRPr lang="es-ES" spc="-5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D0F8CF3B-B920-DBFC-F825-0C87B51EADA7}"/>
              </a:ext>
            </a:extLst>
          </p:cNvPr>
          <p:cNvSpPr txBox="1"/>
          <p:nvPr/>
        </p:nvSpPr>
        <p:spPr>
          <a:xfrm>
            <a:off x="609441" y="4860334"/>
            <a:ext cx="11199971" cy="1384995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A PDK is …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In general, the layers for layout in a PDK represent …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For our particular PDK we find the following layers, with number and label/description: 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82AE4A84-532D-D50D-F368-79FF1C11E97A}"/>
              </a:ext>
            </a:extLst>
          </p:cNvPr>
          <p:cNvSpPr/>
          <p:nvPr/>
        </p:nvSpPr>
        <p:spPr>
          <a:xfrm>
            <a:off x="609441" y="1418373"/>
            <a:ext cx="5332571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024B9AF7-5B09-CE7C-68D9-8620B8F4F607}"/>
              </a:ext>
            </a:extLst>
          </p:cNvPr>
          <p:cNvSpPr txBox="1"/>
          <p:nvPr/>
        </p:nvSpPr>
        <p:spPr>
          <a:xfrm>
            <a:off x="763342" y="2494306"/>
            <a:ext cx="502477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Paste code to view the layer distribution of this PDK</a:t>
            </a:r>
          </a:p>
          <a:p>
            <a:pPr algn="ctr"/>
            <a:endParaRPr lang="en-US" dirty="0"/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8BEC3D78-C227-4F8E-7F5D-F398FB043D20}"/>
              </a:ext>
            </a:extLst>
          </p:cNvPr>
          <p:cNvSpPr/>
          <p:nvPr/>
        </p:nvSpPr>
        <p:spPr>
          <a:xfrm>
            <a:off x="6476841" y="1420406"/>
            <a:ext cx="5332571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B5806D5A-9C65-5DDA-AF7C-30CC28E9C38F}"/>
              </a:ext>
            </a:extLst>
          </p:cNvPr>
          <p:cNvSpPr txBox="1"/>
          <p:nvPr/>
        </p:nvSpPr>
        <p:spPr>
          <a:xfrm>
            <a:off x="7925522" y="2496339"/>
            <a:ext cx="24352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ES" dirty="0"/>
              <a:t>Paste </a:t>
            </a:r>
            <a:r>
              <a:rPr lang="es-ES" dirty="0" err="1"/>
              <a:t>plot</a:t>
            </a:r>
            <a:r>
              <a:rPr lang="es-ES" dirty="0"/>
              <a:t> </a:t>
            </a:r>
            <a:r>
              <a:rPr lang="es-ES" dirty="0" err="1"/>
              <a:t>of</a:t>
            </a:r>
            <a:r>
              <a:rPr lang="es-ES" dirty="0"/>
              <a:t> </a:t>
            </a:r>
            <a:r>
              <a:rPr lang="es-ES" dirty="0" err="1"/>
              <a:t>layers</a:t>
            </a:r>
            <a:r>
              <a:rPr lang="es-ES" dirty="0"/>
              <a:t> </a:t>
            </a:r>
            <a:r>
              <a:rPr lang="es-ES" dirty="0" err="1"/>
              <a:t>here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305013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721758-3D0C-3510-194A-4075C73D45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74F925C6-A9EE-0450-6CF3-EB5E905BE7E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95154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just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#1b – Notebook section 1. Technology – </a:t>
            </a:r>
            <a:r>
              <a:rPr lang="en-US" sz="2500" dirty="0">
                <a:solidFill>
                  <a:srgbClr val="FF0000"/>
                </a:solidFill>
              </a:rPr>
              <a:t>1 slide per component</a:t>
            </a:r>
            <a:br>
              <a:rPr lang="en-US" sz="2500" dirty="0"/>
            </a:br>
            <a:r>
              <a:rPr lang="en-US" sz="1800" b="0" i="1" dirty="0"/>
              <a:t>“Use your design results from Lab2 and Lab3 to create layout instances of your designed components: DCs, MMIs, MZIs &amp; Ring Resonators”</a:t>
            </a:r>
            <a:endParaRPr sz="2500" b="0" i="1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61751C67-979A-7D64-9474-F594568485E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F5A815B6-7BA3-E2CF-377E-EACA0F621FAA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4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018AEC9F-5174-0EEA-5CD3-65515392F16F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4.0. LAYOUT</a:t>
            </a:r>
            <a:endParaRPr lang="es-ES" spc="-5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A1BE4500-9BE4-025B-9167-E8AC6466B028}"/>
              </a:ext>
            </a:extLst>
          </p:cNvPr>
          <p:cNvSpPr txBox="1"/>
          <p:nvPr/>
        </p:nvSpPr>
        <p:spPr>
          <a:xfrm>
            <a:off x="609441" y="4860334"/>
            <a:ext cx="11199971" cy="646331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Describe component. </a:t>
            </a:r>
            <a:r>
              <a:rPr lang="en-US" sz="12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Example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: this is the MMI we designed in Lab2, it is a 2x2 with paired interference, target coupling constant K = 0.5. The relevant dimensions are W_MMI = XX µm L_MMI = YY µm and the I/O positions with respect to center are at +/-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dY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µm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FB364273-7E07-9E83-F4A6-1AFD1AEFE243}"/>
              </a:ext>
            </a:extLst>
          </p:cNvPr>
          <p:cNvSpPr/>
          <p:nvPr/>
        </p:nvSpPr>
        <p:spPr>
          <a:xfrm>
            <a:off x="609441" y="1418373"/>
            <a:ext cx="5332571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96224819-75AC-EB82-A160-7A3DE5BF0740}"/>
              </a:ext>
            </a:extLst>
          </p:cNvPr>
          <p:cNvSpPr txBox="1"/>
          <p:nvPr/>
        </p:nvSpPr>
        <p:spPr>
          <a:xfrm>
            <a:off x="2375901" y="2494306"/>
            <a:ext cx="179966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Component code</a:t>
            </a:r>
          </a:p>
          <a:p>
            <a:pPr algn="ctr"/>
            <a:endParaRPr lang="en-US" dirty="0"/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8C1E968B-0AE0-37CB-7468-A50896329E70}"/>
              </a:ext>
            </a:extLst>
          </p:cNvPr>
          <p:cNvSpPr/>
          <p:nvPr/>
        </p:nvSpPr>
        <p:spPr>
          <a:xfrm>
            <a:off x="6476841" y="1420406"/>
            <a:ext cx="5332571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89877566-4E2F-8CE5-3749-EB4B91552614}"/>
              </a:ext>
            </a:extLst>
          </p:cNvPr>
          <p:cNvSpPr txBox="1"/>
          <p:nvPr/>
        </p:nvSpPr>
        <p:spPr>
          <a:xfrm>
            <a:off x="7956912" y="2496339"/>
            <a:ext cx="23724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ES" dirty="0" err="1"/>
              <a:t>Component</a:t>
            </a:r>
            <a:r>
              <a:rPr lang="es-ES" dirty="0"/>
              <a:t> </a:t>
            </a:r>
            <a:r>
              <a:rPr lang="es-ES" dirty="0" err="1"/>
              <a:t>screenshot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964245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45B0A8-BCE1-AF65-5AFA-79184BEDA9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EDCA2EEE-70B8-D049-D7BD-B54DCCF3207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95154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l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#2a – Notebook section 2. Layout Fundamentals</a:t>
            </a:r>
            <a:br>
              <a:rPr lang="en-US" sz="2500" dirty="0"/>
            </a:br>
            <a:r>
              <a:rPr lang="en-US" sz="1800" b="0" i="1" dirty="0"/>
              <a:t>“Once that we have a working 'new' component, we shall convert it into a Cell. This will allow us to have a hierarchical design”</a:t>
            </a:r>
            <a:endParaRPr sz="2500" b="0" i="1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DDB8C9DA-7093-6464-A7C1-20B2A585A1E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0102C027-A211-C670-7EF5-D7A4650EEA98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5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3BB5A66E-75F8-8688-0D68-26E0DDB3AC86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4.0. LAYOUT</a:t>
            </a:r>
            <a:endParaRPr lang="es-ES" spc="-5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35C0B36B-B4BD-C242-E1BB-26DD7AC56DB0}"/>
              </a:ext>
            </a:extLst>
          </p:cNvPr>
          <p:cNvSpPr txBox="1"/>
          <p:nvPr/>
        </p:nvSpPr>
        <p:spPr>
          <a:xfrm>
            <a:off x="609441" y="4860334"/>
            <a:ext cx="11199971" cy="276999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Describe component: </a:t>
            </a: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399364F4-A34A-5161-07CB-E12F9FFCB400}"/>
              </a:ext>
            </a:extLst>
          </p:cNvPr>
          <p:cNvSpPr/>
          <p:nvPr/>
        </p:nvSpPr>
        <p:spPr>
          <a:xfrm>
            <a:off x="609441" y="1418373"/>
            <a:ext cx="5332571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62A2AA3F-CE55-C50B-CB18-2C8D2061FDB9}"/>
              </a:ext>
            </a:extLst>
          </p:cNvPr>
          <p:cNvSpPr txBox="1"/>
          <p:nvPr/>
        </p:nvSpPr>
        <p:spPr>
          <a:xfrm>
            <a:off x="1531412" y="2494306"/>
            <a:ext cx="348864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Example code for</a:t>
            </a:r>
          </a:p>
          <a:p>
            <a:pPr algn="ctr"/>
            <a:r>
              <a:rPr lang="en-US" dirty="0"/>
              <a:t>“A die (chip) for a photonic layout”</a:t>
            </a:r>
          </a:p>
          <a:p>
            <a:pPr algn="ctr"/>
            <a:endParaRPr lang="en-US" dirty="0"/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4DFC788C-53E2-83E7-3D9E-EBD582171C71}"/>
              </a:ext>
            </a:extLst>
          </p:cNvPr>
          <p:cNvSpPr/>
          <p:nvPr/>
        </p:nvSpPr>
        <p:spPr>
          <a:xfrm>
            <a:off x="6476841" y="1420406"/>
            <a:ext cx="5332571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2C44A1ED-9D94-1354-DB46-756E574E2C7E}"/>
              </a:ext>
            </a:extLst>
          </p:cNvPr>
          <p:cNvSpPr txBox="1"/>
          <p:nvPr/>
        </p:nvSpPr>
        <p:spPr>
          <a:xfrm>
            <a:off x="8483018" y="2496339"/>
            <a:ext cx="132023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ES" dirty="0" err="1"/>
              <a:t>Example</a:t>
            </a:r>
            <a:r>
              <a:rPr lang="es-ES" dirty="0"/>
              <a:t> die</a:t>
            </a:r>
          </a:p>
          <a:p>
            <a:pPr algn="ctr"/>
            <a:r>
              <a:rPr lang="es-ES" dirty="0"/>
              <a:t> </a:t>
            </a:r>
            <a:r>
              <a:rPr lang="es-ES" dirty="0" err="1"/>
              <a:t>screenshot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032410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8D281E-4B83-CADF-E05C-2779A19E8B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3C614703-AB72-E989-42B5-849A55E9B3E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87459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just">
              <a:lnSpc>
                <a:spcPct val="100000"/>
              </a:lnSpc>
              <a:spcBef>
                <a:spcPts val="100"/>
              </a:spcBef>
            </a:pPr>
            <a:r>
              <a:rPr lang="en-US" dirty="0"/>
              <a:t>Learning outcome #2a – Notebook section 2. Layout Fundamentals – </a:t>
            </a:r>
            <a:r>
              <a:rPr lang="en-US" dirty="0">
                <a:solidFill>
                  <a:srgbClr val="FF0000"/>
                </a:solidFill>
              </a:rPr>
              <a:t>1 slide per component</a:t>
            </a:r>
            <a:br>
              <a:rPr lang="en-US" sz="2500" dirty="0"/>
            </a:br>
            <a:r>
              <a:rPr lang="en-US" sz="1800" b="0" i="1" dirty="0"/>
              <a:t>“Use your design results from Lab2 and Lab3 to create layout instances of your designed components: DCs, MMIs, MZIs &amp; Ring Resonators” </a:t>
            </a:r>
            <a:r>
              <a:rPr lang="en-US" sz="1800" b="0" i="1" dirty="0">
                <a:solidFill>
                  <a:srgbClr val="FF0000"/>
                </a:solidFill>
                <a:sym typeface="Wingdings" pitchFamily="2" charset="2"/>
              </a:rPr>
              <a:t> Make cells for all your components</a:t>
            </a:r>
            <a:endParaRPr sz="2500" b="0" i="1" dirty="0">
              <a:solidFill>
                <a:srgbClr val="FF0000"/>
              </a:solidFill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B2356666-601E-2F0B-B414-AFB7213C2F5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F6398BF1-A4DD-D652-E241-5E9DB50DD57A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6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CEC070D5-9297-7D8B-73E0-DC21D7D5CE09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4.0. LAYOUT</a:t>
            </a:r>
            <a:endParaRPr lang="es-ES" spc="-5" dirty="0"/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D8C2352E-973A-F389-F6A1-D644E07F2E7E}"/>
              </a:ext>
            </a:extLst>
          </p:cNvPr>
          <p:cNvSpPr/>
          <p:nvPr/>
        </p:nvSpPr>
        <p:spPr>
          <a:xfrm>
            <a:off x="609441" y="1418373"/>
            <a:ext cx="5332571" cy="4751794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792D8CBF-451B-83CB-7D64-3CD9C64B8333}"/>
              </a:ext>
            </a:extLst>
          </p:cNvPr>
          <p:cNvSpPr txBox="1"/>
          <p:nvPr/>
        </p:nvSpPr>
        <p:spPr>
          <a:xfrm>
            <a:off x="2063316" y="2494306"/>
            <a:ext cx="24248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Component as cell code</a:t>
            </a:r>
          </a:p>
          <a:p>
            <a:pPr algn="ctr"/>
            <a:endParaRPr lang="en-US" dirty="0"/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BAAAC818-8C43-CF5D-4DB7-21D1E6A0DEED}"/>
              </a:ext>
            </a:extLst>
          </p:cNvPr>
          <p:cNvSpPr/>
          <p:nvPr/>
        </p:nvSpPr>
        <p:spPr>
          <a:xfrm>
            <a:off x="6476841" y="1420406"/>
            <a:ext cx="5332571" cy="4751794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2E0254F2-3F36-2B82-F469-33464298D91B}"/>
              </a:ext>
            </a:extLst>
          </p:cNvPr>
          <p:cNvSpPr txBox="1"/>
          <p:nvPr/>
        </p:nvSpPr>
        <p:spPr>
          <a:xfrm>
            <a:off x="7644330" y="2496339"/>
            <a:ext cx="29976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ES" dirty="0" err="1"/>
              <a:t>Component</a:t>
            </a:r>
            <a:r>
              <a:rPr lang="es-ES" dirty="0"/>
              <a:t> as </a:t>
            </a:r>
            <a:r>
              <a:rPr lang="es-ES" dirty="0" err="1"/>
              <a:t>cell</a:t>
            </a:r>
            <a:r>
              <a:rPr lang="es-ES" dirty="0"/>
              <a:t> </a:t>
            </a:r>
            <a:r>
              <a:rPr lang="es-ES" dirty="0" err="1"/>
              <a:t>screenshot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040021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DC463A-FEB0-DAC2-C592-982AED782F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6D9825A0-3864-7B82-F4C0-6912BF1AE35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39754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l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#3 – Notebook section 3. Complete layout</a:t>
            </a:r>
            <a:endParaRPr sz="2500" b="0" i="1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0DEB6AD1-A7A1-CBBC-33E2-C1A03F2E3EC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00F7002D-478B-4959-3169-5E518898EBC4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7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C305F97E-3B7E-8203-F806-FFA5E41962D7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4.0. LAYOUT</a:t>
            </a:r>
            <a:endParaRPr lang="es-ES" spc="-5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58187553-D412-F56C-DD26-11B2C97C2B31}"/>
              </a:ext>
            </a:extLst>
          </p:cNvPr>
          <p:cNvSpPr txBox="1"/>
          <p:nvPr/>
        </p:nvSpPr>
        <p:spPr>
          <a:xfrm>
            <a:off x="685800" y="990600"/>
            <a:ext cx="5410200" cy="5181600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noAutofit/>
          </a:bodyPr>
          <a:lstStyle/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Read and describe 4 code blocks in section 3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Python code block 1: 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Python code block 2: 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Python code block 3: 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Python code block 4: 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F4B67F4D-126C-4796-4E73-E68F0F3CB6B3}"/>
              </a:ext>
            </a:extLst>
          </p:cNvPr>
          <p:cNvSpPr/>
          <p:nvPr/>
        </p:nvSpPr>
        <p:spPr>
          <a:xfrm>
            <a:off x="6248400" y="990285"/>
            <a:ext cx="5638799" cy="5181600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24F5FE71-3005-DD28-5A06-1330678AD855}"/>
              </a:ext>
            </a:extLst>
          </p:cNvPr>
          <p:cNvSpPr txBox="1"/>
          <p:nvPr/>
        </p:nvSpPr>
        <p:spPr>
          <a:xfrm>
            <a:off x="7663860" y="3105834"/>
            <a:ext cx="280788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ES" dirty="0"/>
              <a:t>Complete </a:t>
            </a:r>
            <a:r>
              <a:rPr lang="es-ES" dirty="0" err="1"/>
              <a:t>layout</a:t>
            </a:r>
            <a:r>
              <a:rPr lang="es-ES" dirty="0"/>
              <a:t> </a:t>
            </a:r>
            <a:r>
              <a:rPr lang="es-ES" dirty="0" err="1"/>
              <a:t>screenshot</a:t>
            </a:r>
            <a:endParaRPr lang="es-ES" dirty="0"/>
          </a:p>
          <a:p>
            <a:pPr algn="ctr"/>
            <a:r>
              <a:rPr lang="es-ES" dirty="0"/>
              <a:t> </a:t>
            </a:r>
            <a:r>
              <a:rPr lang="es-ES" dirty="0" err="1"/>
              <a:t>screenshot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908115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9787F0-CB2C-2FE5-5614-A0F16A628E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102B708D-0704-5977-EC6F-88CF05CBBE8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39754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l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#4 – Notebook section 4. Exercises – 1 slide per bullet point</a:t>
            </a:r>
            <a:endParaRPr sz="2500" b="0" i="1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25386122-0096-23D3-AB3A-550FBF0A314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713FD8D6-DEAF-544C-DE8A-FEED1CFD257F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8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30B40145-CD7B-EB6E-E37D-B6E973BB915B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4.0. LAYOUT</a:t>
            </a:r>
            <a:endParaRPr lang="es-ES" spc="-5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3C6D55FC-5031-5DAE-893E-BF1355747932}"/>
              </a:ext>
            </a:extLst>
          </p:cNvPr>
          <p:cNvSpPr txBox="1"/>
          <p:nvPr/>
        </p:nvSpPr>
        <p:spPr>
          <a:xfrm>
            <a:off x="685800" y="990600"/>
            <a:ext cx="5410200" cy="5181600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noAutofit/>
          </a:bodyPr>
          <a:lstStyle/>
          <a:p>
            <a:pPr algn="just"/>
            <a:r>
              <a:rPr lang="en-US" sz="1200" b="1" dirty="0">
                <a:latin typeface="Arial" panose="020B0604020202020204" pitchFamily="34" charset="0"/>
                <a:cs typeface="Arial" panose="020B0604020202020204" pitchFamily="34" charset="0"/>
              </a:rPr>
              <a:t>Code for …</a:t>
            </a:r>
          </a:p>
          <a:p>
            <a:pPr algn="just"/>
            <a:endParaRPr lang="en-US" sz="12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US" sz="1200" b="1" dirty="0">
                <a:latin typeface="Arial" panose="020B0604020202020204" pitchFamily="34" charset="0"/>
                <a:cs typeface="Arial" panose="020B0604020202020204" pitchFamily="34" charset="0"/>
              </a:rPr>
              <a:t>Part a) Creating components</a:t>
            </a:r>
          </a:p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- Create a cell component for a unbalanced MZI, using 2x2 50:50 MMIs with arm length difference as parameter</a:t>
            </a:r>
          </a:p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- Create a cell component based on the previous, where the arms have thermal tuners on top of each one</a:t>
            </a:r>
          </a:p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- Create a cell component for an all-pass ring resonator, using 2x2 50:50 MMIs, with extra length parameter for different perimeters</a:t>
            </a:r>
          </a:p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- Create a cell component based on the previous, where the ring has a thermal tuner on top along all the perimeter</a:t>
            </a:r>
          </a:p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- Create a cell component based on existing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GDSfactory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spiral components, with length as parameter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US" sz="1200" b="1" dirty="0">
                <a:latin typeface="Arial" panose="020B0604020202020204" pitchFamily="34" charset="0"/>
                <a:cs typeface="Arial" panose="020B0604020202020204" pitchFamily="34" charset="0"/>
              </a:rPr>
              <a:t>Part b) Creating die</a:t>
            </a:r>
          </a:p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- Create a die  W = 5 mm x L = 10 mm </a:t>
            </a:r>
          </a:p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- Create an array of I/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spaced at 250 µm (as much I/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as the width allows)</a:t>
            </a:r>
          </a:p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- Create a cell component of this die, with I/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accessible to connect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US" sz="1200" b="1" dirty="0">
                <a:latin typeface="Arial" panose="020B0604020202020204" pitchFamily="34" charset="0"/>
                <a:cs typeface="Arial" panose="020B0604020202020204" pitchFamily="34" charset="0"/>
              </a:rPr>
              <a:t>Part c) </a:t>
            </a:r>
            <a:r>
              <a:rPr lang="en-US" sz="1200" b="1" dirty="0" err="1">
                <a:latin typeface="Arial" panose="020B0604020202020204" pitchFamily="34" charset="0"/>
                <a:cs typeface="Arial" panose="020B0604020202020204" pitchFamily="34" charset="0"/>
              </a:rPr>
              <a:t>Floorplaning</a:t>
            </a:r>
            <a:r>
              <a:rPr lang="en-US" sz="1200" b="1" dirty="0">
                <a:latin typeface="Arial" panose="020B0604020202020204" pitchFamily="34" charset="0"/>
                <a:cs typeface="Arial" panose="020B0604020202020204" pitchFamily="34" charset="0"/>
              </a:rPr>
              <a:t> and die layout</a:t>
            </a:r>
          </a:p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- Make an instance of the die as host component for your layout</a:t>
            </a:r>
          </a:p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- Add 3 sets of 3 straight waveguides, from left to right of the die, top, middle and bottom of the die</a:t>
            </a:r>
          </a:p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- Add 2 of each of the components above, with different lengths</a:t>
            </a:r>
          </a:p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- Connect all your components to the I/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B7F15AC0-F440-2DF1-6C9D-0A7E2EAFC2C8}"/>
              </a:ext>
            </a:extLst>
          </p:cNvPr>
          <p:cNvSpPr/>
          <p:nvPr/>
        </p:nvSpPr>
        <p:spPr>
          <a:xfrm>
            <a:off x="6248400" y="990285"/>
            <a:ext cx="5638799" cy="5181600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9452515D-9AC0-62DB-2A62-0C197A32C5E7}"/>
              </a:ext>
            </a:extLst>
          </p:cNvPr>
          <p:cNvSpPr txBox="1"/>
          <p:nvPr/>
        </p:nvSpPr>
        <p:spPr>
          <a:xfrm>
            <a:off x="8180318" y="3105834"/>
            <a:ext cx="17749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ES" dirty="0" err="1"/>
              <a:t>Screenshot</a:t>
            </a:r>
            <a:r>
              <a:rPr lang="es-ES" dirty="0"/>
              <a:t> </a:t>
            </a:r>
            <a:r>
              <a:rPr lang="es-ES" dirty="0" err="1"/>
              <a:t>for</a:t>
            </a:r>
            <a:r>
              <a:rPr lang="es-ES" dirty="0"/>
              <a:t> …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0873858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/>
          <p:nvPr/>
        </p:nvSpPr>
        <p:spPr>
          <a:xfrm>
            <a:off x="3945635" y="2636520"/>
            <a:ext cx="8246363" cy="15849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xfrm>
            <a:off x="4513326" y="3165729"/>
            <a:ext cx="2233295" cy="51371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3200" b="1" spc="-5" dirty="0">
                <a:solidFill>
                  <a:srgbClr val="FFFFFF"/>
                </a:solidFill>
                <a:latin typeface="Lucida Sans"/>
                <a:cs typeface="Lucida Sans"/>
              </a:rPr>
              <a:t>Thank</a:t>
            </a:r>
            <a:r>
              <a:rPr sz="3200" b="1" spc="-55" dirty="0">
                <a:solidFill>
                  <a:srgbClr val="FFFFFF"/>
                </a:solidFill>
                <a:latin typeface="Lucida Sans"/>
                <a:cs typeface="Lucida Sans"/>
              </a:rPr>
              <a:t> </a:t>
            </a:r>
            <a:r>
              <a:rPr sz="3200" b="1" dirty="0">
                <a:solidFill>
                  <a:srgbClr val="FFFFFF"/>
                </a:solidFill>
                <a:latin typeface="Lucida Sans"/>
                <a:cs typeface="Lucida Sans"/>
              </a:rPr>
              <a:t>you</a:t>
            </a:r>
            <a:endParaRPr sz="3200">
              <a:latin typeface="Lucida Sans"/>
              <a:cs typeface="Lucida Sans"/>
            </a:endParaRP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B052DA19-AD24-7D24-2AE9-51F8F5A7F5E0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9</a:t>
            </a:fld>
            <a:endParaRPr lang="es-E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00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836</TotalTime>
  <Words>723</Words>
  <Application>Microsoft Macintosh PowerPoint</Application>
  <PresentationFormat>Panorámica</PresentationFormat>
  <Paragraphs>96</Paragraphs>
  <Slides>9</Slides>
  <Notes>6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9</vt:i4>
      </vt:variant>
    </vt:vector>
  </HeadingPairs>
  <TitlesOfParts>
    <vt:vector size="15" baseType="lpstr">
      <vt:lpstr>Aptos</vt:lpstr>
      <vt:lpstr>Arial</vt:lpstr>
      <vt:lpstr>Calibri</vt:lpstr>
      <vt:lpstr>Lucida Sans</vt:lpstr>
      <vt:lpstr>Wingdings</vt:lpstr>
      <vt:lpstr>Office Theme</vt:lpstr>
      <vt:lpstr>Presentación de PowerPoint</vt:lpstr>
      <vt:lpstr>Instructions General</vt:lpstr>
      <vt:lpstr>Learning outcome #1a – Notebook section 1. Technology “We will work with the demo UPVfab PDK. Let's view the layer distribution of this PDK”</vt:lpstr>
      <vt:lpstr>Learning outcome #1b – Notebook section 1. Technology – 1 slide per component “Use your design results from Lab2 and Lab3 to create layout instances of your designed components: DCs, MMIs, MZIs &amp; Ring Resonators”</vt:lpstr>
      <vt:lpstr>Learning outcome #2a – Notebook section 2. Layout Fundamentals “Once that we have a working 'new' component, we shall convert it into a Cell. This will allow us to have a hierarchical design”</vt:lpstr>
      <vt:lpstr>Learning outcome #2a – Notebook section 2. Layout Fundamentals – 1 slide per component “Use your design results from Lab2 and Lab3 to create layout instances of your designed components: DCs, MMIs, MZIs &amp; Ring Resonators”  Make cells for all your components</vt:lpstr>
      <vt:lpstr>Learning outcome #3 – Notebook section 3. Complete layout</vt:lpstr>
      <vt:lpstr>Learning outcome #4 – Notebook section 4. Exercises – 1 slide per bullet point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Mª Ester Calataytud</dc:creator>
  <cp:lastModifiedBy>Pascual Muñoz Muñoz</cp:lastModifiedBy>
  <cp:revision>25</cp:revision>
  <dcterms:created xsi:type="dcterms:W3CDTF">2025-01-27T02:46:57Z</dcterms:created>
  <dcterms:modified xsi:type="dcterms:W3CDTF">2026-05-25T16:08:12Z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2024-09-16T00:00:00Z</vt:filetime>
  </property>
  <property fmtid="{D5CDD505-2E9C-101B-9397-08002B2CF9AE}" pid="3" name="Creator">
    <vt:lpwstr>Microsoft® PowerPoint® 2016</vt:lpwstr>
  </property>
  <property fmtid="{D5CDD505-2E9C-101B-9397-08002B2CF9AE}" pid="4" name="LastSaved">
    <vt:filetime>2025-01-27T00:00:00Z</vt:filetime>
  </property>
</Properties>
</file>