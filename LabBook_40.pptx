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2"/>
  </p:notesMasterIdLst>
  <p:handoutMasterIdLst>
    <p:handoutMasterId r:id="rId23"/>
  </p:handoutMasterIdLst>
  <p:sldIdLst>
    <p:sldId id="256" r:id="rId2"/>
    <p:sldId id="289" r:id="rId3"/>
    <p:sldId id="290" r:id="rId4"/>
    <p:sldId id="297" r:id="rId5"/>
    <p:sldId id="298" r:id="rId6"/>
    <p:sldId id="299" r:id="rId7"/>
    <p:sldId id="300" r:id="rId8"/>
    <p:sldId id="301" r:id="rId9"/>
    <p:sldId id="302" r:id="rId10"/>
    <p:sldId id="303" r:id="rId11"/>
    <p:sldId id="304" r:id="rId12"/>
    <p:sldId id="305" r:id="rId13"/>
    <p:sldId id="292" r:id="rId14"/>
    <p:sldId id="293" r:id="rId15"/>
    <p:sldId id="307" r:id="rId16"/>
    <p:sldId id="308" r:id="rId17"/>
    <p:sldId id="309" r:id="rId18"/>
    <p:sldId id="294" r:id="rId19"/>
    <p:sldId id="295" r:id="rId20"/>
    <p:sldId id="288" r:id="rId21"/>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17" autoAdjust="0"/>
    <p:restoredTop sz="95033" autoAdjust="0"/>
  </p:normalViewPr>
  <p:slideViewPr>
    <p:cSldViewPr>
      <p:cViewPr varScale="1">
        <p:scale>
          <a:sx n="82" d="100"/>
          <a:sy n="82" d="100"/>
        </p:scale>
        <p:origin x="1142"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11/06/2026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11/06/2026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1295D-6334-19A1-B636-DEC8A36591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238BA27-D916-3B59-8993-957F310E92D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E1C14ED-5125-DA9E-B91D-786B5388C61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BB58DAE-40A5-8AE2-2FA7-E03C4C9BA1F6}"/>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747418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D9363-A05D-B4E6-E6AC-94FFF95845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0409493-9DBD-C789-A71C-38332EF4049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52B4C29-EC2A-FB7E-16B1-F8D526CD610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6C92F6B-5C66-4E26-F8DB-AAFC63D0A82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4164103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BF86A-DAEA-2649-F967-73978CF6AC7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788A509-4F73-7277-95F0-AF523D8740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E742A91-E8B6-1CA2-7203-02AE8096484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1368885-21E4-00B5-74EA-CC1A57D575D6}"/>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4043012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F226B-2812-93B0-F27C-D288421FCC3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B9ABCE9-3614-54B4-C886-752A771F8F4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CAD7A0A-B57F-406D-5BD9-BACA488E003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BE41D1B-F994-DD48-10B8-0DFFA3E56A9D}"/>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623668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B3E29-B565-A2B3-6CEF-78CF74F0AB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631CFB1-DABA-AE20-5846-3BEC5CC877A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A4E0E36-6D85-6820-20CD-9709F58C42B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8391B77-9F93-52DD-FC4A-26207532CA76}"/>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4174563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23918-8447-C775-25D3-2D1CF924129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30D97B-F5DB-F5B7-8583-61324CEFF72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88BB4DD-EB4B-1C73-A330-8B24EA3ACA1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9D89DF6-9641-D1F0-29B3-71E4B47573ED}"/>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361728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3EF94-F07F-FF49-A635-AAAC6F39F7C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E956D73-C0AA-752F-A1D4-1DB47DFCA3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1E2B4DE-4609-8E94-DBD7-38146142495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46612F7-D236-DD22-86B2-47AC09677C4E}"/>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2536622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E9132-A449-2E01-5C38-F676F42E13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2AB539-4269-E6E6-13D5-16DC28926EC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A366E6-9409-4C6A-96A5-01436A96AB1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D09B84B-468A-41C1-099F-45845086FB99}"/>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3857984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2CEE5-5638-8BB3-8390-794DDD34D0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46193F-0EF3-CB71-3E49-5BB48D90BC8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8B6F05-1071-E3D9-4D28-645F9934174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FE355C1-1E53-A04A-1D90-95A2732C379C}"/>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2074574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2BF37-98F6-CD9B-2255-0A64B5CEA4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68927E-2442-0553-FBC8-D3C32BCC5C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130D77-4D33-EE41-3A9E-4EB6D24190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5BAC07D-EBC4-F68A-7BE7-2B2DCCECD5CD}"/>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20953260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988B3-C141-4645-2F2A-A09F408267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22BAD8-B0CC-3164-3027-A210D7EB75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3995D4B-1202-927A-28C9-66F35C33AE6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156FFEE-1184-FFA2-1E7F-CC9E8439AC53}"/>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3810953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274CB-DBD7-9079-1B4D-54C921DF459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2A1B15-D412-22EB-793B-3E6213EA165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593A6B7-6B2B-32CB-81AE-DA9AAF2999E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615CF38-F2AC-C38B-FF83-016D98C388E9}"/>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1544038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120B9-6EF3-5416-8464-1D1C7952FF7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A3D4F41-AD8A-C579-1EAD-203C061E6BD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3B4A215-662B-B3A0-AAA7-4F9A96E1DBE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B2E3B31-429A-9927-247B-DDF18D95C8F4}"/>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40085291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3CCD6-52D1-8704-9153-4F5BDD2209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638E937-3F58-9EB2-FEF4-4FDD8E49D21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37166BB-947C-3857-DFF5-BB402C0494B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76900BF-EC47-4092-4DF6-8414CB7B1B26}"/>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41178089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9EAE7-9EAB-544B-26F0-D89AD57C0B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7142DDC-39F3-B8EF-C550-B1BDBF79832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14E7676-8E00-A60E-B890-D4F612C9A5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F8AAF8C-62CF-3619-1C70-91E48BE9A4C4}"/>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21631047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169CA-A6E9-D0C3-4D3A-6AF9089104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EC97DB9-2632-3700-0312-BB76DC46DE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897758-8CC0-1479-13D7-87B5FBD747C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060DEFB-1A44-3354-5B15-298FF8A10085}"/>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1576459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4.0. LAYOUT</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4.0. LAYOUT</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ascualmunoz/cifoin-lab4.git" TargetMode="External"/><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sv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svg"/><Relationship Id="rId7"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4.0 </a:t>
            </a:r>
            <a:r>
              <a:rPr lang="es-ES" sz="3200" b="1">
                <a:latin typeface="Lucida Sans"/>
                <a:cs typeface="Lucida Sans"/>
              </a:rPr>
              <a:t>Layout</a:t>
            </a:r>
            <a:endParaRPr sz="3200" dirty="0">
              <a:latin typeface="Lucida Sans"/>
              <a:cs typeface="Lucida Sans"/>
            </a:endParaRPr>
          </a:p>
        </p:txBody>
      </p:sp>
      <p:sp>
        <p:nvSpPr>
          <p:cNvPr id="4" name="object 4"/>
          <p:cNvSpPr txBox="1"/>
          <p:nvPr/>
        </p:nvSpPr>
        <p:spPr>
          <a:xfrm>
            <a:off x="2749676" y="5610250"/>
            <a:ext cx="8223124" cy="579646"/>
          </a:xfrm>
          <a:prstGeom prst="rect">
            <a:avLst/>
          </a:prstGeom>
        </p:spPr>
        <p:txBody>
          <a:bodyPr vert="horz" wrap="square" lIns="0" tIns="12700" rIns="0" bIns="0" rtlCol="0">
            <a:spAutoFit/>
          </a:bodyPr>
          <a:lstStyle/>
          <a:p>
            <a:pPr marL="12700">
              <a:lnSpc>
                <a:spcPct val="100000"/>
              </a:lnSpc>
              <a:spcBef>
                <a:spcPts val="100"/>
              </a:spcBef>
            </a:pPr>
            <a:r>
              <a:rPr lang="es-ES" b="1" i="1" spc="165" dirty="0">
                <a:latin typeface="Arial"/>
                <a:cs typeface="Arial"/>
              </a:rPr>
              <a:t>Student: </a:t>
            </a:r>
            <a:r>
              <a:rPr lang="es-ES" spc="165" dirty="0">
                <a:latin typeface="Arial"/>
                <a:cs typeface="Arial"/>
              </a:rPr>
              <a:t>Lidia Tórtola Juan y Raúl Salido Calatayud</a:t>
            </a:r>
          </a:p>
          <a:p>
            <a:pPr marL="12700">
              <a:spcBef>
                <a:spcPts val="100"/>
              </a:spcBef>
            </a:pPr>
            <a:r>
              <a:rPr lang="es-ES" b="1" i="1" dirty="0">
                <a:latin typeface="Arial" panose="020B0604020202020204" pitchFamily="34" charset="0"/>
                <a:cs typeface="Arial" panose="020B0604020202020204" pitchFamily="34" charset="0"/>
              </a:rPr>
              <a:t>URL:</a:t>
            </a:r>
            <a:r>
              <a:rPr lang="es-ES" dirty="0">
                <a:latin typeface="Arial" panose="020B0604020202020204" pitchFamily="34" charset="0"/>
                <a:cs typeface="Arial" panose="020B0604020202020204" pitchFamily="34" charset="0"/>
              </a:rPr>
              <a:t> https://github.com/ltorjua/cifoin-lab4</a:t>
            </a: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a:t>
            </a:r>
            <a:r>
              <a:rPr lang="en-US" kern="0" dirty="0">
                <a:solidFill>
                  <a:sysClr val="windowText" lastClr="000000"/>
                </a:solidFill>
                <a:sym typeface="Wingdings" pitchFamily="2" charset="2"/>
                <a:hlinkClick r:id="rId3"/>
              </a:rPr>
              <a:t>https://github.com/pascualmunoz/cifoin-lab4.git</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folder / repo in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terminal: </a:t>
            </a:r>
            <a:r>
              <a:rPr lang="en-US" kern="0" dirty="0" err="1">
                <a:solidFill>
                  <a:sysClr val="windowText" lastClr="000000"/>
                </a:solidFill>
                <a:sym typeface="Wingdings" pitchFamily="2" charset="2"/>
              </a:rPr>
              <a:t>uv</a:t>
            </a:r>
            <a:r>
              <a:rPr lang="en-US" kern="0" dirty="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LAYOUT_STUDENT.ipynb</a:t>
            </a:r>
            <a:r>
              <a:rPr lang="en-US" kern="0" dirty="0">
                <a:solidFill>
                  <a:sysClr val="windowText" lastClr="000000"/>
                </a:solidFill>
              </a:rPr>
              <a:t> </a:t>
            </a:r>
          </a:p>
          <a:p>
            <a:pPr marL="342900" indent="-342900" algn="just">
              <a:buFont typeface="Arial" panose="020B0604020202020204" pitchFamily="34" charset="0"/>
              <a:buChar char="•"/>
            </a:pPr>
            <a:endParaRPr lang="en-US" kern="0" dirty="0">
              <a:solidFill>
                <a:sysClr val="windowText" lastClr="000000"/>
              </a:solidFill>
            </a:endParaRPr>
          </a:p>
          <a:p>
            <a:pPr marL="342900" indent="-342900" algn="just">
              <a:buFont typeface="Arial" panose="020B0604020202020204" pitchFamily="34" charset="0"/>
              <a:buChar char="•"/>
            </a:pPr>
            <a:r>
              <a:rPr lang="en-US" b="1" kern="0" dirty="0">
                <a:solidFill>
                  <a:srgbClr val="FF0000"/>
                </a:solidFill>
              </a:rPr>
              <a:t>Points</a:t>
            </a:r>
          </a:p>
          <a:p>
            <a:pPr marL="800100" lvl="1" indent="-342900" algn="just">
              <a:buFont typeface="Arial" panose="020B0604020202020204" pitchFamily="34" charset="0"/>
              <a:buChar char="•"/>
            </a:pPr>
            <a:r>
              <a:rPr lang="en-US" b="1" kern="0" dirty="0">
                <a:solidFill>
                  <a:srgbClr val="FF0000"/>
                </a:solidFill>
              </a:rPr>
              <a:t>LO1: 3 points</a:t>
            </a:r>
          </a:p>
          <a:p>
            <a:pPr marL="800100" lvl="1" indent="-342900" algn="just">
              <a:buFont typeface="Arial" panose="020B0604020202020204" pitchFamily="34" charset="0"/>
              <a:buChar char="•"/>
            </a:pPr>
            <a:r>
              <a:rPr lang="en-US" b="1" kern="0" dirty="0">
                <a:solidFill>
                  <a:srgbClr val="FF0000"/>
                </a:solidFill>
              </a:rPr>
              <a:t>LO2: 3 points</a:t>
            </a:r>
          </a:p>
          <a:p>
            <a:pPr marL="800100" lvl="1" indent="-342900" algn="just">
              <a:buFont typeface="Arial" panose="020B0604020202020204" pitchFamily="34" charset="0"/>
              <a:buChar char="•"/>
            </a:pPr>
            <a:r>
              <a:rPr lang="en-US" b="1" kern="0" dirty="0">
                <a:solidFill>
                  <a:srgbClr val="FF0000"/>
                </a:solidFill>
              </a:rPr>
              <a:t>LO3: 1 points</a:t>
            </a:r>
          </a:p>
          <a:p>
            <a:pPr marL="800100" lvl="1" indent="-342900" algn="just">
              <a:buFont typeface="Arial" panose="020B0604020202020204" pitchFamily="34" charset="0"/>
              <a:buChar char="•"/>
            </a:pPr>
            <a:r>
              <a:rPr lang="en-US" b="1" kern="0" dirty="0">
                <a:solidFill>
                  <a:srgbClr val="FF0000"/>
                </a:solidFill>
              </a:rPr>
              <a:t>LO4: 3 points</a:t>
            </a:r>
          </a:p>
          <a:p>
            <a:pPr algn="just"/>
            <a:endParaRPr lang="en-US" b="1" i="1" dirty="0"/>
          </a:p>
          <a:p>
            <a:pPr algn="just"/>
            <a:endParaRPr lang="en-US" sz="2000" b="1" i="1" dirty="0"/>
          </a:p>
          <a:p>
            <a:pPr algn="just"/>
            <a:endParaRPr lang="en-US" sz="2000" kern="0" dirty="0">
              <a:solidFill>
                <a:sysClr val="windowText" lastClr="000000"/>
              </a:solidFill>
            </a:endParaRP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Notebook section 1. Technology</a:t>
            </a:r>
            <a:br>
              <a:rPr lang="es-ES" sz="2500" spc="-5" dirty="0">
                <a:latin typeface="+mj-lt"/>
                <a:cs typeface="Lucida Sans"/>
              </a:rPr>
            </a:br>
            <a:r>
              <a:rPr lang="es-ES" b="0" i="1" spc="-5" dirty="0">
                <a:latin typeface="+mj-lt"/>
              </a:rPr>
              <a:t>“</a:t>
            </a:r>
            <a:r>
              <a:rPr lang="es-ES" b="0" i="1" spc="-5" dirty="0" err="1">
                <a:latin typeface="+mj-lt"/>
              </a:rPr>
              <a:t>We</a:t>
            </a:r>
            <a:r>
              <a:rPr lang="es-ES" b="0" i="1" spc="-5" dirty="0">
                <a:latin typeface="+mj-lt"/>
              </a:rPr>
              <a:t> </a:t>
            </a:r>
            <a:r>
              <a:rPr lang="es-ES" b="0" i="1" spc="-5" dirty="0" err="1">
                <a:latin typeface="+mj-lt"/>
              </a:rPr>
              <a:t>will</a:t>
            </a:r>
            <a:r>
              <a:rPr lang="es-ES" b="0" i="1" spc="-5" dirty="0">
                <a:latin typeface="+mj-lt"/>
              </a:rPr>
              <a:t> </a:t>
            </a:r>
            <a:r>
              <a:rPr lang="es-ES" b="0" i="1" spc="-5" dirty="0" err="1">
                <a:latin typeface="+mj-lt"/>
              </a:rPr>
              <a:t>work</a:t>
            </a:r>
            <a:r>
              <a:rPr lang="es-ES" b="0" i="1" spc="-5" dirty="0">
                <a:latin typeface="+mj-lt"/>
                <a:cs typeface="Lucida Sans"/>
              </a:rPr>
              <a:t> </a:t>
            </a:r>
            <a:r>
              <a:rPr lang="es-ES" b="0" i="1" spc="-5" dirty="0" err="1">
                <a:latin typeface="+mj-lt"/>
                <a:cs typeface="Lucida Sans"/>
              </a:rPr>
              <a:t>with</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demo UPVfab PDK. </a:t>
            </a:r>
            <a:r>
              <a:rPr lang="es-ES" b="0" i="1" spc="-5" dirty="0" err="1">
                <a:latin typeface="+mj-lt"/>
                <a:cs typeface="Lucida Sans"/>
              </a:rPr>
              <a:t>Let's</a:t>
            </a:r>
            <a:r>
              <a:rPr lang="es-ES" b="0" i="1" spc="-5" dirty="0">
                <a:latin typeface="+mj-lt"/>
                <a:cs typeface="Lucida Sans"/>
              </a:rPr>
              <a:t> </a:t>
            </a:r>
            <a:r>
              <a:rPr lang="es-ES" b="0" i="1" spc="-5" dirty="0" err="1">
                <a:latin typeface="+mj-lt"/>
                <a:cs typeface="Lucida Sans"/>
              </a:rPr>
              <a:t>view</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a:t>
            </a:r>
            <a:r>
              <a:rPr lang="es-ES" b="0" i="1" spc="-5" dirty="0" err="1">
                <a:latin typeface="+mj-lt"/>
                <a:cs typeface="Lucida Sans"/>
              </a:rPr>
              <a:t>layer</a:t>
            </a:r>
            <a:r>
              <a:rPr lang="es-ES" b="0" i="1" spc="-5" dirty="0">
                <a:latin typeface="+mj-lt"/>
                <a:cs typeface="Lucida Sans"/>
              </a:rPr>
              <a:t> </a:t>
            </a:r>
            <a:r>
              <a:rPr lang="es-ES" b="0" i="1" spc="-5" dirty="0" err="1">
                <a:latin typeface="+mj-lt"/>
                <a:cs typeface="Lucida Sans"/>
              </a:rPr>
              <a:t>distribution</a:t>
            </a:r>
            <a:r>
              <a:rPr lang="es-ES" b="0" i="1" spc="-5" dirty="0">
                <a:latin typeface="+mj-lt"/>
                <a:cs typeface="Lucida Sans"/>
              </a:rPr>
              <a:t> </a:t>
            </a:r>
            <a:r>
              <a:rPr lang="es-ES" b="0" i="1" spc="-5" dirty="0" err="1">
                <a:latin typeface="+mj-lt"/>
                <a:cs typeface="Lucida Sans"/>
              </a:rPr>
              <a:t>of</a:t>
            </a:r>
            <a:r>
              <a:rPr lang="es-ES" b="0" i="1" spc="-5" dirty="0">
                <a:latin typeface="+mj-lt"/>
                <a:cs typeface="Lucida Sans"/>
              </a:rPr>
              <a:t> </a:t>
            </a:r>
            <a:r>
              <a:rPr lang="es-ES" b="0" i="1" spc="-5" dirty="0" err="1">
                <a:latin typeface="+mj-lt"/>
                <a:cs typeface="Lucida Sans"/>
              </a:rPr>
              <a:t>this</a:t>
            </a:r>
            <a:r>
              <a:rPr lang="es-ES" b="0" i="1" spc="-5" dirty="0">
                <a:latin typeface="+mj-lt"/>
                <a:cs typeface="Lucida Sans"/>
              </a:rPr>
              <a:t> PDK”</a:t>
            </a:r>
            <a:endParaRPr sz="2500" b="0" i="1"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590780" y="3918623"/>
            <a:ext cx="10696152" cy="2139047"/>
          </a:xfrm>
          <a:prstGeom prst="rect">
            <a:avLst/>
          </a:prstGeom>
          <a:solidFill>
            <a:schemeClr val="bg1">
              <a:lumMod val="95000"/>
            </a:schemeClr>
          </a:solidFill>
          <a:ln w="28575">
            <a:solidFill>
              <a:srgbClr val="E0700D"/>
            </a:solidFill>
          </a:ln>
        </p:spPr>
        <p:txBody>
          <a:bodyPr wrap="square" rtlCol="0">
            <a:spAutoFit/>
          </a:bodyPr>
          <a:lstStyle/>
          <a:p>
            <a:pPr algn="just"/>
            <a:endParaRPr lang="es-ES" sz="1100" b="1" i="1" dirty="0">
              <a:latin typeface="Arial" panose="020B0604020202020204" pitchFamily="34" charset="0"/>
              <a:cs typeface="Arial" panose="020B0604020202020204" pitchFamily="34" charset="0"/>
            </a:endParaRPr>
          </a:p>
          <a:p>
            <a:pPr algn="just"/>
            <a:r>
              <a:rPr lang="es-ES" sz="1100" b="1" i="1" dirty="0">
                <a:latin typeface="Arial" panose="020B0604020202020204" pitchFamily="34" charset="0"/>
                <a:cs typeface="Arial" panose="020B0604020202020204" pitchFamily="34" charset="0"/>
              </a:rPr>
              <a:t>Un PDK es</a:t>
            </a:r>
            <a:r>
              <a:rPr lang="es-ES" sz="1100" dirty="0">
                <a:latin typeface="Arial" panose="020B0604020202020204" pitchFamily="34" charset="0"/>
                <a:cs typeface="Arial" panose="020B0604020202020204" pitchFamily="34" charset="0"/>
              </a:rPr>
              <a:t> un conjunto de reglas de diseño, capas y componentes que se utiliza para crear un </a:t>
            </a:r>
            <a:r>
              <a:rPr lang="es-ES" sz="1100" dirty="0" err="1">
                <a:latin typeface="Arial" panose="020B0604020202020204" pitchFamily="34" charset="0"/>
                <a:cs typeface="Arial" panose="020B0604020202020204" pitchFamily="34" charset="0"/>
              </a:rPr>
              <a:t>layout</a:t>
            </a:r>
            <a:r>
              <a:rPr lang="es-ES" sz="1100" dirty="0">
                <a:latin typeface="Arial" panose="020B0604020202020204" pitchFamily="34" charset="0"/>
                <a:cs typeface="Arial" panose="020B0604020202020204" pitchFamily="34" charset="0"/>
              </a:rPr>
              <a:t> adaptado a un proceso de fabricación concreto.</a:t>
            </a:r>
            <a:endParaRPr lang="en-US" sz="1100" dirty="0">
              <a:latin typeface="Arial" panose="020B0604020202020204" pitchFamily="34" charset="0"/>
              <a:cs typeface="Arial" panose="020B0604020202020204" pitchFamily="34" charset="0"/>
            </a:endParaRPr>
          </a:p>
          <a:p>
            <a:pPr algn="just"/>
            <a:endParaRPr lang="es-ES" sz="1100" dirty="0">
              <a:latin typeface="Arial" panose="020B0604020202020204" pitchFamily="34" charset="0"/>
              <a:cs typeface="Arial" panose="020B0604020202020204" pitchFamily="34" charset="0"/>
            </a:endParaRPr>
          </a:p>
          <a:p>
            <a:pPr algn="just"/>
            <a:r>
              <a:rPr lang="es-ES" sz="1100" b="1" i="1" dirty="0">
                <a:latin typeface="Arial" panose="020B0604020202020204" pitchFamily="34" charset="0"/>
                <a:cs typeface="Arial" panose="020B0604020202020204" pitchFamily="34" charset="0"/>
              </a:rPr>
              <a:t>En general, las capas de un PDK representan </a:t>
            </a:r>
            <a:r>
              <a:rPr lang="es-ES" sz="1100" dirty="0">
                <a:latin typeface="Arial" panose="020B0604020202020204" pitchFamily="34" charset="0"/>
                <a:cs typeface="Arial" panose="020B0604020202020204" pitchFamily="34" charset="0"/>
              </a:rPr>
              <a:t>un elemento físico o una etapa de fabricación distinta, como las guías de onda, las zonas </a:t>
            </a:r>
            <a:r>
              <a:rPr lang="es-ES" sz="1100" dirty="0" err="1">
                <a:latin typeface="Arial" panose="020B0604020202020204" pitchFamily="34" charset="0"/>
                <a:cs typeface="Arial" panose="020B0604020202020204" pitchFamily="34" charset="0"/>
              </a:rPr>
              <a:t>slab</a:t>
            </a:r>
            <a:r>
              <a:rPr lang="es-ES" sz="1100" dirty="0">
                <a:latin typeface="Arial" panose="020B0604020202020204" pitchFamily="34" charset="0"/>
                <a:cs typeface="Arial" panose="020B0604020202020204" pitchFamily="34" charset="0"/>
              </a:rPr>
              <a:t>, los calentadores, las conexiones metálicas o las etiquetas.</a:t>
            </a:r>
            <a:endParaRPr lang="en-US" sz="1100" dirty="0">
              <a:latin typeface="Arial" panose="020B0604020202020204" pitchFamily="34" charset="0"/>
              <a:cs typeface="Arial" panose="020B0604020202020204" pitchFamily="34" charset="0"/>
            </a:endParaRPr>
          </a:p>
          <a:p>
            <a:pPr algn="just"/>
            <a:endParaRPr lang="en-US" sz="1100" dirty="0">
              <a:latin typeface="Arial" panose="020B0604020202020204" pitchFamily="34" charset="0"/>
              <a:cs typeface="Arial" panose="020B0604020202020204" pitchFamily="34" charset="0"/>
            </a:endParaRPr>
          </a:p>
          <a:p>
            <a:r>
              <a:rPr lang="es-ES" sz="1100" b="1" i="1" dirty="0">
                <a:latin typeface="Arial" panose="020B0604020202020204" pitchFamily="34" charset="0"/>
                <a:cs typeface="Arial" panose="020B0604020202020204" pitchFamily="34" charset="0"/>
              </a:rPr>
              <a:t>Para nuestro PDK particular, encontramos las siguientes capas, con numero y descripción:</a:t>
            </a:r>
          </a:p>
          <a:p>
            <a:endParaRPr lang="es-ES" sz="1100" b="1" i="1" dirty="0">
              <a:latin typeface="Arial" panose="020B0604020202020204" pitchFamily="34" charset="0"/>
              <a:cs typeface="Arial" panose="020B0604020202020204" pitchFamily="34" charset="0"/>
            </a:endParaRPr>
          </a:p>
          <a:p>
            <a:r>
              <a:rPr lang="es-ES" sz="1100" dirty="0">
                <a:latin typeface="Arial" panose="020B0604020202020204" pitchFamily="34" charset="0"/>
                <a:cs typeface="Arial" panose="020B0604020202020204" pitchFamily="34" charset="0"/>
              </a:rPr>
              <a:t>WG (1/0) para las guías de onda; SLAB (2/0) para las zonas de grabado parcial; HEATER (10/0) para los calentadores térmicos; PAD (40/0) para los contactos eléctricos; FLOORPLAN (99/0) para definir los límites del chip; LABEL_SETTINGS (100/0) para la configuración de etiquetas; y LABEL_INSTANCE (101/0) para identificar las instancias del diseño.</a:t>
            </a:r>
            <a:endParaRPr lang="en-US" sz="11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603221" y="1307903"/>
            <a:ext cx="5332571" cy="1763009"/>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8BEC3D78-C227-4F8E-7F5D-F398FB043D20}"/>
              </a:ext>
            </a:extLst>
          </p:cNvPr>
          <p:cNvSpPr/>
          <p:nvPr/>
        </p:nvSpPr>
        <p:spPr>
          <a:xfrm>
            <a:off x="7934133" y="1301946"/>
            <a:ext cx="3352799" cy="248705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B5806D5A-9C65-5DDA-AF7C-30CC28E9C38F}"/>
              </a:ext>
            </a:extLst>
          </p:cNvPr>
          <p:cNvSpPr txBox="1"/>
          <p:nvPr/>
        </p:nvSpPr>
        <p:spPr>
          <a:xfrm>
            <a:off x="8572135" y="2377879"/>
            <a:ext cx="2435218" cy="369332"/>
          </a:xfrm>
          <a:prstGeom prst="rect">
            <a:avLst/>
          </a:prstGeom>
          <a:noFill/>
        </p:spPr>
        <p:txBody>
          <a:bodyPr wrap="none" rtlCol="0">
            <a:spAutoFit/>
          </a:bodyPr>
          <a:lstStyle/>
          <a:p>
            <a:pPr algn="ctr"/>
            <a:r>
              <a:rPr lang="es-ES" dirty="0"/>
              <a:t>Paste </a:t>
            </a:r>
            <a:r>
              <a:rPr lang="es-ES" dirty="0" err="1"/>
              <a:t>plot</a:t>
            </a:r>
            <a:r>
              <a:rPr lang="es-ES" dirty="0"/>
              <a:t> </a:t>
            </a:r>
            <a:r>
              <a:rPr lang="es-ES" dirty="0" err="1"/>
              <a:t>of</a:t>
            </a:r>
            <a:r>
              <a:rPr lang="es-ES" dirty="0"/>
              <a:t> </a:t>
            </a:r>
            <a:r>
              <a:rPr lang="es-ES" dirty="0" err="1"/>
              <a:t>layers</a:t>
            </a:r>
            <a:r>
              <a:rPr lang="es-ES" dirty="0"/>
              <a:t> </a:t>
            </a:r>
            <a:r>
              <a:rPr lang="es-ES" dirty="0" err="1"/>
              <a:t>here</a:t>
            </a:r>
            <a:endParaRPr lang="en-US" dirty="0"/>
          </a:p>
        </p:txBody>
      </p:sp>
      <p:pic>
        <p:nvPicPr>
          <p:cNvPr id="5" name="Imagen 4">
            <a:extLst>
              <a:ext uri="{FF2B5EF4-FFF2-40B4-BE49-F238E27FC236}">
                <a16:creationId xmlns:a16="http://schemas.microsoft.com/office/drawing/2014/main" id="{9DB74E31-F018-F407-7E43-F237E531BD28}"/>
              </a:ext>
            </a:extLst>
          </p:cNvPr>
          <p:cNvPicPr>
            <a:picLocks noChangeAspect="1"/>
          </p:cNvPicPr>
          <p:nvPr/>
        </p:nvPicPr>
        <p:blipFill>
          <a:blip r:embed="rId4"/>
          <a:stretch>
            <a:fillRect/>
          </a:stretch>
        </p:blipFill>
        <p:spPr>
          <a:xfrm>
            <a:off x="8010332" y="1352484"/>
            <a:ext cx="3177534" cy="2352644"/>
          </a:xfrm>
          <a:prstGeom prst="rect">
            <a:avLst/>
          </a:prstGeom>
        </p:spPr>
      </p:pic>
      <p:pic>
        <p:nvPicPr>
          <p:cNvPr id="11" name="Imagen 10">
            <a:extLst>
              <a:ext uri="{FF2B5EF4-FFF2-40B4-BE49-F238E27FC236}">
                <a16:creationId xmlns:a16="http://schemas.microsoft.com/office/drawing/2014/main" id="{6C626852-41F3-C88F-8C17-3EE6A52AE466}"/>
              </a:ext>
            </a:extLst>
          </p:cNvPr>
          <p:cNvPicPr>
            <a:picLocks noChangeAspect="1"/>
          </p:cNvPicPr>
          <p:nvPr/>
        </p:nvPicPr>
        <p:blipFill>
          <a:blip r:embed="rId5"/>
          <a:stretch>
            <a:fillRect/>
          </a:stretch>
        </p:blipFill>
        <p:spPr>
          <a:xfrm>
            <a:off x="749829" y="1371145"/>
            <a:ext cx="5039354" cy="1625597"/>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D4429-FA39-8040-E437-E375EEF5809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0E8CC2-DC2F-98AB-46A0-6E66007DC4DD}"/>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36D33210-D1A0-940B-9A62-1847D43118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7E0695C-1872-3EAC-A34E-5AF18D2F7B37}"/>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45840051-74A1-3900-553D-CF18BE79E5D0}"/>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1D608045-405D-7578-5AD2-C6C3D58D5A7C}"/>
              </a:ext>
            </a:extLst>
          </p:cNvPr>
          <p:cNvSpPr/>
          <p:nvPr/>
        </p:nvSpPr>
        <p:spPr>
          <a:xfrm>
            <a:off x="3064905" y="1359879"/>
            <a:ext cx="3657759" cy="47538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EA6525FD-90CF-4677-EF37-D37B78A38213}"/>
              </a:ext>
            </a:extLst>
          </p:cNvPr>
          <p:cNvSpPr txBox="1"/>
          <p:nvPr/>
        </p:nvSpPr>
        <p:spPr>
          <a:xfrm>
            <a:off x="4831365" y="2435813"/>
            <a:ext cx="1799660" cy="646331"/>
          </a:xfrm>
          <a:prstGeom prst="rect">
            <a:avLst/>
          </a:prstGeom>
          <a:noFill/>
        </p:spPr>
        <p:txBody>
          <a:bodyPr wrap="none" rtlCol="0">
            <a:spAutoFit/>
          </a:bodyPr>
          <a:lstStyle/>
          <a:p>
            <a:pPr algn="ctr"/>
            <a:r>
              <a:rPr lang="en-US" dirty="0"/>
              <a:t>Component code</a:t>
            </a:r>
          </a:p>
          <a:p>
            <a:pPr algn="ctr"/>
            <a:endParaRPr lang="en-US" dirty="0"/>
          </a:p>
        </p:txBody>
      </p:sp>
      <p:sp>
        <p:nvSpPr>
          <p:cNvPr id="8" name="Rectángulo 7">
            <a:extLst>
              <a:ext uri="{FF2B5EF4-FFF2-40B4-BE49-F238E27FC236}">
                <a16:creationId xmlns:a16="http://schemas.microsoft.com/office/drawing/2014/main" id="{632D4C1F-18CA-93BA-9B10-48840FBBB2A7}"/>
              </a:ext>
            </a:extLst>
          </p:cNvPr>
          <p:cNvSpPr/>
          <p:nvPr/>
        </p:nvSpPr>
        <p:spPr>
          <a:xfrm>
            <a:off x="6931686" y="1387871"/>
            <a:ext cx="44959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85CEAFA-2AE0-F1C8-739A-7391F2826928}"/>
              </a:ext>
            </a:extLst>
          </p:cNvPr>
          <p:cNvSpPr txBox="1"/>
          <p:nvPr/>
        </p:nvSpPr>
        <p:spPr>
          <a:xfrm>
            <a:off x="7801998" y="2463804"/>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6E32439F-EE6F-5348-910E-50DA13912219}"/>
              </a:ext>
            </a:extLst>
          </p:cNvPr>
          <p:cNvPicPr>
            <a:picLocks noChangeAspect="1"/>
          </p:cNvPicPr>
          <p:nvPr/>
        </p:nvPicPr>
        <p:blipFill>
          <a:blip r:embed="rId4"/>
          <a:stretch>
            <a:fillRect/>
          </a:stretch>
        </p:blipFill>
        <p:spPr>
          <a:xfrm>
            <a:off x="7010400" y="1471536"/>
            <a:ext cx="4359161" cy="3153874"/>
          </a:xfrm>
          <a:prstGeom prst="rect">
            <a:avLst/>
          </a:prstGeom>
        </p:spPr>
      </p:pic>
      <p:pic>
        <p:nvPicPr>
          <p:cNvPr id="11" name="Imagen 10">
            <a:extLst>
              <a:ext uri="{FF2B5EF4-FFF2-40B4-BE49-F238E27FC236}">
                <a16:creationId xmlns:a16="http://schemas.microsoft.com/office/drawing/2014/main" id="{9F4BC00E-7FD0-518A-E0F1-B9641138C12E}"/>
              </a:ext>
            </a:extLst>
          </p:cNvPr>
          <p:cNvPicPr>
            <a:picLocks noChangeAspect="1"/>
          </p:cNvPicPr>
          <p:nvPr/>
        </p:nvPicPr>
        <p:blipFill>
          <a:blip r:embed="rId5"/>
          <a:stretch>
            <a:fillRect/>
          </a:stretch>
        </p:blipFill>
        <p:spPr>
          <a:xfrm>
            <a:off x="3141263" y="1420406"/>
            <a:ext cx="3489761" cy="4641556"/>
          </a:xfrm>
          <a:prstGeom prst="rect">
            <a:avLst/>
          </a:prstGeom>
        </p:spPr>
      </p:pic>
      <p:sp>
        <p:nvSpPr>
          <p:cNvPr id="2" name="CuadroTexto 1">
            <a:extLst>
              <a:ext uri="{FF2B5EF4-FFF2-40B4-BE49-F238E27FC236}">
                <a16:creationId xmlns:a16="http://schemas.microsoft.com/office/drawing/2014/main" id="{9D453725-78E4-B22C-0468-93646C071389}"/>
              </a:ext>
            </a:extLst>
          </p:cNvPr>
          <p:cNvSpPr txBox="1"/>
          <p:nvPr/>
        </p:nvSpPr>
        <p:spPr>
          <a:xfrm>
            <a:off x="609600" y="1981200"/>
            <a:ext cx="2057400" cy="369332"/>
          </a:xfrm>
          <a:prstGeom prst="rect">
            <a:avLst/>
          </a:prstGeom>
          <a:noFill/>
        </p:spPr>
        <p:txBody>
          <a:bodyPr wrap="square" rtlCol="0">
            <a:spAutoFit/>
          </a:bodyPr>
          <a:lstStyle/>
          <a:p>
            <a:r>
              <a:rPr lang="es-ES" b="1" i="1" u="sng" dirty="0" err="1">
                <a:solidFill>
                  <a:schemeClr val="accent4">
                    <a:lumMod val="75000"/>
                  </a:schemeClr>
                </a:solidFill>
              </a:rPr>
              <a:t>Directional</a:t>
            </a:r>
            <a:r>
              <a:rPr lang="es-ES" b="1" i="1" u="sng" dirty="0">
                <a:solidFill>
                  <a:schemeClr val="accent4">
                    <a:lumMod val="75000"/>
                  </a:schemeClr>
                </a:solidFill>
              </a:rPr>
              <a:t> </a:t>
            </a:r>
            <a:r>
              <a:rPr lang="es-ES" b="1" i="1" u="sng" dirty="0" err="1">
                <a:solidFill>
                  <a:schemeClr val="accent4">
                    <a:lumMod val="75000"/>
                  </a:schemeClr>
                </a:solidFill>
              </a:rPr>
              <a:t>coupler</a:t>
            </a:r>
            <a:endParaRPr lang="es-ES" b="1" i="1" u="sng" dirty="0">
              <a:solidFill>
                <a:schemeClr val="accent4">
                  <a:lumMod val="75000"/>
                </a:schemeClr>
              </a:solidFill>
            </a:endParaRPr>
          </a:p>
        </p:txBody>
      </p:sp>
    </p:spTree>
    <p:extLst>
      <p:ext uri="{BB962C8B-B14F-4D97-AF65-F5344CB8AC3E}">
        <p14:creationId xmlns:p14="http://schemas.microsoft.com/office/powerpoint/2010/main" val="1913182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60B46-4A30-9231-1FB6-B74404048FC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0A7140E-536F-CA23-2628-F3C659847BC3}"/>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39388BD3-042C-1A4C-E2F4-6FE2ADF2D1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294A2C5-DB9F-4DB3-A0AB-8E44BE46F091}"/>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3712B25F-091D-8383-682D-9288F1D8F94C}"/>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FEBD5D24-E5D5-673E-7103-8D1380852C3C}"/>
              </a:ext>
            </a:extLst>
          </p:cNvPr>
          <p:cNvSpPr txBox="1"/>
          <p:nvPr/>
        </p:nvSpPr>
        <p:spPr>
          <a:xfrm>
            <a:off x="609600" y="1600200"/>
            <a:ext cx="11199971" cy="1969770"/>
          </a:xfrm>
          <a:prstGeom prst="rect">
            <a:avLst/>
          </a:prstGeom>
          <a:solidFill>
            <a:schemeClr val="bg1">
              <a:lumMod val="95000"/>
            </a:schemeClr>
          </a:solidFill>
          <a:ln w="28575">
            <a:solidFill>
              <a:srgbClr val="E0700D"/>
            </a:solidFill>
          </a:ln>
        </p:spPr>
        <p:txBody>
          <a:bodyPr wrap="square" rtlCol="0">
            <a:spAutoFit/>
          </a:bodyPr>
          <a:lstStyle/>
          <a:p>
            <a:pPr algn="just"/>
            <a:endParaRPr lang="en-US" sz="1100" b="1" i="1" dirty="0">
              <a:latin typeface="Arial" panose="020B0604020202020204" pitchFamily="34" charset="0"/>
              <a:cs typeface="Arial" panose="020B0604020202020204" pitchFamily="34" charset="0"/>
            </a:endParaRPr>
          </a:p>
          <a:p>
            <a:pPr algn="just"/>
            <a:r>
              <a:rPr lang="en-US" sz="1100" b="1" i="1" dirty="0">
                <a:latin typeface="Arial" panose="020B0604020202020204" pitchFamily="34" charset="0"/>
                <a:cs typeface="Arial" panose="020B0604020202020204" pitchFamily="34" charset="0"/>
              </a:rPr>
              <a:t>Describe component. </a:t>
            </a:r>
            <a:r>
              <a:rPr lang="en-US" sz="1100" b="1" i="1" dirty="0">
                <a:solidFill>
                  <a:srgbClr val="FF0000"/>
                </a:solidFill>
                <a:latin typeface="Arial" panose="020B0604020202020204" pitchFamily="34" charset="0"/>
                <a:cs typeface="Arial" panose="020B0604020202020204" pitchFamily="34" charset="0"/>
              </a:rPr>
              <a:t>Example</a:t>
            </a:r>
            <a:r>
              <a:rPr lang="en-US" sz="1100" b="1" i="1" dirty="0">
                <a:latin typeface="Arial" panose="020B0604020202020204" pitchFamily="34" charset="0"/>
                <a:cs typeface="Arial" panose="020B0604020202020204" pitchFamily="34" charset="0"/>
              </a:rPr>
              <a:t>: this is the MMI we designed in Lab2, it is a 2x2 with paired interference, target coupling constant K = 0.5. The relevant dimensions are W_MMI = XX µm L_MMI = YY µm and the I/O positions with respect to center are at +/- </a:t>
            </a:r>
            <a:r>
              <a:rPr lang="en-US" sz="1100" b="1" i="1" dirty="0" err="1">
                <a:latin typeface="Arial" panose="020B0604020202020204" pitchFamily="34" charset="0"/>
                <a:cs typeface="Arial" panose="020B0604020202020204" pitchFamily="34" charset="0"/>
              </a:rPr>
              <a:t>dY</a:t>
            </a:r>
            <a:r>
              <a:rPr lang="en-US" sz="1100" b="1" i="1" dirty="0">
                <a:latin typeface="Arial" panose="020B0604020202020204" pitchFamily="34" charset="0"/>
                <a:cs typeface="Arial" panose="020B0604020202020204" pitchFamily="34" charset="0"/>
              </a:rPr>
              <a:t> µm</a:t>
            </a:r>
          </a:p>
          <a:p>
            <a:pPr algn="just"/>
            <a:endParaRPr lang="en-US" sz="1100" dirty="0">
              <a:latin typeface="Arial" panose="020B0604020202020204" pitchFamily="34" charset="0"/>
              <a:cs typeface="Arial" panose="020B0604020202020204" pitchFamily="34" charset="0"/>
            </a:endParaRPr>
          </a:p>
          <a:p>
            <a:pPr algn="just"/>
            <a:r>
              <a:rPr lang="es-ES" sz="1100" dirty="0">
                <a:latin typeface="Arial" panose="020B0604020202020204" pitchFamily="34" charset="0"/>
                <a:cs typeface="Arial" panose="020B0604020202020204" pitchFamily="34" charset="0"/>
              </a:rPr>
              <a:t>EL primer componente es un acoplador direccional 2×2 parametrizable, diseñado para conseguir un reparto de potencia aproximado de 50:50, con un coeficiente de acoplamiento objetivo de K = 0,5. Está formado por dos guías de onda paralelas de 300 nm de ancho, separadas 600 nm en la zona de acoplamiento. La longitud de esta zona es de aproximadamente 46,9 µm, calculada para obtener dicho reparto de potencia.</a:t>
            </a:r>
          </a:p>
          <a:p>
            <a:pPr algn="just"/>
            <a:endParaRPr lang="es-ES" sz="1100" dirty="0">
              <a:latin typeface="Arial" panose="020B0604020202020204" pitchFamily="34" charset="0"/>
              <a:cs typeface="Arial" panose="020B0604020202020204" pitchFamily="34" charset="0"/>
            </a:endParaRPr>
          </a:p>
          <a:p>
            <a:pPr algn="just"/>
            <a:r>
              <a:rPr lang="es-ES" sz="1100" dirty="0">
                <a:latin typeface="Arial" panose="020B0604020202020204" pitchFamily="34" charset="0"/>
                <a:cs typeface="Arial" panose="020B0604020202020204" pitchFamily="34" charset="0"/>
              </a:rPr>
              <a:t>El componente tiene cuatro puertos ópticos, dos de entrada y dos de salida. Los puertos están situados verticalmente a ±10 µm respecto al centro del dispositivo. Las curvas de acceso tienen un desplazamiento horizontal de 25 µm, por lo que la longitud total aproximada del componente es de 96,9 µm.</a:t>
            </a: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4681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EFA23-ED1D-E028-DFA7-7FF09A5EEF5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0A72C24-9847-1CDA-1979-C26100B8846A}"/>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22E1B1D4-9A19-30CF-820A-B2F49764AF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92859CE-3399-C878-2E12-07E754968E69}"/>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ABBC46E9-3032-6A1A-A1C0-66B41E5F98D5}"/>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56BE4B83-3922-E6D6-FF77-EDAA7150C3C0}"/>
              </a:ext>
            </a:extLst>
          </p:cNvPr>
          <p:cNvSpPr/>
          <p:nvPr/>
        </p:nvSpPr>
        <p:spPr>
          <a:xfrm>
            <a:off x="3064905" y="1359879"/>
            <a:ext cx="3657759" cy="47538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DBED8E3-0430-06A5-F1DD-C7BE5F8AD15D}"/>
              </a:ext>
            </a:extLst>
          </p:cNvPr>
          <p:cNvSpPr txBox="1"/>
          <p:nvPr/>
        </p:nvSpPr>
        <p:spPr>
          <a:xfrm>
            <a:off x="4831365" y="2435813"/>
            <a:ext cx="1799660" cy="646331"/>
          </a:xfrm>
          <a:prstGeom prst="rect">
            <a:avLst/>
          </a:prstGeom>
          <a:noFill/>
        </p:spPr>
        <p:txBody>
          <a:bodyPr wrap="none" rtlCol="0">
            <a:spAutoFit/>
          </a:bodyPr>
          <a:lstStyle/>
          <a:p>
            <a:pPr algn="ctr"/>
            <a:r>
              <a:rPr lang="en-US" dirty="0"/>
              <a:t>Component code</a:t>
            </a:r>
          </a:p>
          <a:p>
            <a:pPr algn="ctr"/>
            <a:endParaRPr lang="en-US" dirty="0"/>
          </a:p>
        </p:txBody>
      </p:sp>
      <p:sp>
        <p:nvSpPr>
          <p:cNvPr id="8" name="Rectángulo 7">
            <a:extLst>
              <a:ext uri="{FF2B5EF4-FFF2-40B4-BE49-F238E27FC236}">
                <a16:creationId xmlns:a16="http://schemas.microsoft.com/office/drawing/2014/main" id="{12EC26D5-18AD-A26A-B097-8824433494F0}"/>
              </a:ext>
            </a:extLst>
          </p:cNvPr>
          <p:cNvSpPr/>
          <p:nvPr/>
        </p:nvSpPr>
        <p:spPr>
          <a:xfrm>
            <a:off x="6931686" y="1387871"/>
            <a:ext cx="44959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A2F13EF1-CB54-7063-56BB-C45510FC4C4A}"/>
              </a:ext>
            </a:extLst>
          </p:cNvPr>
          <p:cNvSpPr txBox="1"/>
          <p:nvPr/>
        </p:nvSpPr>
        <p:spPr>
          <a:xfrm>
            <a:off x="7801998" y="2463804"/>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sp>
        <p:nvSpPr>
          <p:cNvPr id="2" name="CuadroTexto 1">
            <a:extLst>
              <a:ext uri="{FF2B5EF4-FFF2-40B4-BE49-F238E27FC236}">
                <a16:creationId xmlns:a16="http://schemas.microsoft.com/office/drawing/2014/main" id="{A3AC0AB1-A3EC-FE42-7B00-B5E973FB3563}"/>
              </a:ext>
            </a:extLst>
          </p:cNvPr>
          <p:cNvSpPr txBox="1"/>
          <p:nvPr/>
        </p:nvSpPr>
        <p:spPr>
          <a:xfrm>
            <a:off x="609600" y="1981200"/>
            <a:ext cx="2057400" cy="369332"/>
          </a:xfrm>
          <a:prstGeom prst="rect">
            <a:avLst/>
          </a:prstGeom>
          <a:noFill/>
        </p:spPr>
        <p:txBody>
          <a:bodyPr wrap="square" rtlCol="0">
            <a:spAutoFit/>
          </a:bodyPr>
          <a:lstStyle/>
          <a:p>
            <a:r>
              <a:rPr lang="es-ES" b="1" i="1" u="sng" dirty="0">
                <a:solidFill>
                  <a:schemeClr val="accent4">
                    <a:lumMod val="75000"/>
                  </a:schemeClr>
                </a:solidFill>
              </a:rPr>
              <a:t>MMI</a:t>
            </a:r>
          </a:p>
        </p:txBody>
      </p:sp>
      <p:pic>
        <p:nvPicPr>
          <p:cNvPr id="10" name="Imagen 9">
            <a:extLst>
              <a:ext uri="{FF2B5EF4-FFF2-40B4-BE49-F238E27FC236}">
                <a16:creationId xmlns:a16="http://schemas.microsoft.com/office/drawing/2014/main" id="{7312F4AD-6E57-8986-654A-06E05916D0D6}"/>
              </a:ext>
            </a:extLst>
          </p:cNvPr>
          <p:cNvPicPr>
            <a:picLocks noChangeAspect="1"/>
          </p:cNvPicPr>
          <p:nvPr/>
        </p:nvPicPr>
        <p:blipFill>
          <a:blip r:embed="rId4"/>
          <a:stretch>
            <a:fillRect/>
          </a:stretch>
        </p:blipFill>
        <p:spPr>
          <a:xfrm>
            <a:off x="3128843" y="1423528"/>
            <a:ext cx="3540839" cy="4596272"/>
          </a:xfrm>
          <a:prstGeom prst="rect">
            <a:avLst/>
          </a:prstGeom>
        </p:spPr>
      </p:pic>
      <p:pic>
        <p:nvPicPr>
          <p:cNvPr id="13" name="Imagen 12">
            <a:extLst>
              <a:ext uri="{FF2B5EF4-FFF2-40B4-BE49-F238E27FC236}">
                <a16:creationId xmlns:a16="http://schemas.microsoft.com/office/drawing/2014/main" id="{304CF505-D07D-881E-9620-665F2253441A}"/>
              </a:ext>
            </a:extLst>
          </p:cNvPr>
          <p:cNvPicPr>
            <a:picLocks noChangeAspect="1"/>
          </p:cNvPicPr>
          <p:nvPr/>
        </p:nvPicPr>
        <p:blipFill>
          <a:blip r:embed="rId5"/>
          <a:stretch>
            <a:fillRect/>
          </a:stretch>
        </p:blipFill>
        <p:spPr>
          <a:xfrm>
            <a:off x="7054454" y="1456184"/>
            <a:ext cx="4299345" cy="3171895"/>
          </a:xfrm>
          <a:prstGeom prst="rect">
            <a:avLst/>
          </a:prstGeom>
        </p:spPr>
      </p:pic>
    </p:spTree>
    <p:extLst>
      <p:ext uri="{BB962C8B-B14F-4D97-AF65-F5344CB8AC3E}">
        <p14:creationId xmlns:p14="http://schemas.microsoft.com/office/powerpoint/2010/main" val="3225395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3C6A5-2724-2D13-0564-EF6D1A63F29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1F95587-AED4-C6F2-45AB-3E169E80DE33}"/>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9D903FE0-C76E-BECD-F3AA-237E534565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43FFDBE-1FA6-DD2A-FDAE-76F637E9AD99}"/>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81F4512E-4B4B-4678-85F0-BE35791D49FD}"/>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8FC3B9F-BF79-2899-3C80-125363BF66A0}"/>
              </a:ext>
            </a:extLst>
          </p:cNvPr>
          <p:cNvSpPr txBox="1"/>
          <p:nvPr/>
        </p:nvSpPr>
        <p:spPr>
          <a:xfrm>
            <a:off x="609600" y="1600200"/>
            <a:ext cx="11199971" cy="1969770"/>
          </a:xfrm>
          <a:prstGeom prst="rect">
            <a:avLst/>
          </a:prstGeom>
          <a:solidFill>
            <a:schemeClr val="bg1">
              <a:lumMod val="95000"/>
            </a:schemeClr>
          </a:solidFill>
          <a:ln w="28575">
            <a:solidFill>
              <a:srgbClr val="E0700D"/>
            </a:solidFill>
          </a:ln>
        </p:spPr>
        <p:txBody>
          <a:bodyPr wrap="square" rtlCol="0">
            <a:spAutoFit/>
          </a:bodyPr>
          <a:lstStyle/>
          <a:p>
            <a:pPr algn="just"/>
            <a:endParaRPr lang="en-US" sz="1100" b="1" i="1" dirty="0">
              <a:latin typeface="Arial" panose="020B0604020202020204" pitchFamily="34" charset="0"/>
              <a:cs typeface="Arial" panose="020B0604020202020204" pitchFamily="34" charset="0"/>
            </a:endParaRPr>
          </a:p>
          <a:p>
            <a:pPr algn="just"/>
            <a:r>
              <a:rPr lang="en-US" sz="1100" b="1" i="1" dirty="0">
                <a:latin typeface="Arial" panose="020B0604020202020204" pitchFamily="34" charset="0"/>
                <a:cs typeface="Arial" panose="020B0604020202020204" pitchFamily="34" charset="0"/>
              </a:rPr>
              <a:t>Describe component. </a:t>
            </a:r>
            <a:r>
              <a:rPr lang="en-US" sz="1100" b="1" i="1" dirty="0">
                <a:solidFill>
                  <a:srgbClr val="FF0000"/>
                </a:solidFill>
                <a:latin typeface="Arial" panose="020B0604020202020204" pitchFamily="34" charset="0"/>
                <a:cs typeface="Arial" panose="020B0604020202020204" pitchFamily="34" charset="0"/>
              </a:rPr>
              <a:t>Example</a:t>
            </a:r>
            <a:r>
              <a:rPr lang="en-US" sz="1100" b="1" i="1" dirty="0">
                <a:latin typeface="Arial" panose="020B0604020202020204" pitchFamily="34" charset="0"/>
                <a:cs typeface="Arial" panose="020B0604020202020204" pitchFamily="34" charset="0"/>
              </a:rPr>
              <a:t>: this is the MMI we designed in Lab2, it is a 2x2 with paired interference, target coupling constant K = 0.5. The relevant dimensions are W_MMI = XX µm L_MMI = YY µm and the I/O positions with respect to center are at +/- </a:t>
            </a:r>
            <a:r>
              <a:rPr lang="en-US" sz="1100" b="1" i="1" dirty="0" err="1">
                <a:latin typeface="Arial" panose="020B0604020202020204" pitchFamily="34" charset="0"/>
                <a:cs typeface="Arial" panose="020B0604020202020204" pitchFamily="34" charset="0"/>
              </a:rPr>
              <a:t>dY</a:t>
            </a:r>
            <a:r>
              <a:rPr lang="en-US" sz="1100" b="1" i="1" dirty="0">
                <a:latin typeface="Arial" panose="020B0604020202020204" pitchFamily="34" charset="0"/>
                <a:cs typeface="Arial" panose="020B0604020202020204" pitchFamily="34" charset="0"/>
              </a:rPr>
              <a:t> µm</a:t>
            </a:r>
          </a:p>
          <a:p>
            <a:pPr algn="just"/>
            <a:endParaRPr lang="en-US" sz="1100" dirty="0">
              <a:latin typeface="Arial" panose="020B0604020202020204" pitchFamily="34" charset="0"/>
              <a:cs typeface="Arial" panose="020B0604020202020204" pitchFamily="34" charset="0"/>
            </a:endParaRPr>
          </a:p>
          <a:p>
            <a:pPr algn="just"/>
            <a:r>
              <a:rPr lang="es-ES" sz="1100" dirty="0">
                <a:latin typeface="Arial" panose="020B0604020202020204" pitchFamily="34" charset="0"/>
                <a:cs typeface="Arial" panose="020B0604020202020204" pitchFamily="34" charset="0"/>
              </a:rPr>
              <a:t>El segundo componente es un MMI 2×2 de interferencia multimodo, diseñada para conseguir un reparto de potencia aproximado de 50:50, con un coeficiente de acoplamiento objetivo de K = 0,5. La longitud de batido es de 219,4 µm y, al tratarse de una configuración 2×2, la longitud de la MMI se toma como la mitad de ese valor, dando aproximadamente 109,7 µm. El cuerpo de la MMI tiene una anchura de 12 µm y las guías de acceso tienen una anchura de 1,2 µm.</a:t>
            </a:r>
          </a:p>
          <a:p>
            <a:pPr algn="just"/>
            <a:endParaRPr lang="es-ES" sz="1100" dirty="0">
              <a:latin typeface="Arial" panose="020B0604020202020204" pitchFamily="34" charset="0"/>
              <a:cs typeface="Arial" panose="020B0604020202020204" pitchFamily="34" charset="0"/>
            </a:endParaRPr>
          </a:p>
          <a:p>
            <a:pPr algn="just"/>
            <a:r>
              <a:rPr lang="es-ES" sz="1100" dirty="0">
                <a:latin typeface="Arial" panose="020B0604020202020204" pitchFamily="34" charset="0"/>
                <a:cs typeface="Arial" panose="020B0604020202020204" pitchFamily="34" charset="0"/>
              </a:rPr>
              <a:t>El componente dispone de cuatro puertos ópticos, dos de entrada y dos de salida, situados verticalmente a ±2 µm respecto al centro. Las guías de acceso tienen una longitud de 20 µm a cada lado, por lo que la longitud total aproximada del dispositivo es de 149,7 µm.</a:t>
            </a: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7798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A3D12-C514-E45A-D54F-256485BEFEF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8E0581F-1861-559F-52CD-50CCCAA3D218}"/>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4C2B1255-C1B0-A5FA-8F82-E7C1C459D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E02456A-E404-D97B-A798-38378EA65746}"/>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99483EB3-9EDD-88AD-B1AA-D17FC58C4EB5}"/>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8EF00961-18BD-B32E-E07A-C5179DCEA285}"/>
              </a:ext>
            </a:extLst>
          </p:cNvPr>
          <p:cNvSpPr/>
          <p:nvPr/>
        </p:nvSpPr>
        <p:spPr>
          <a:xfrm>
            <a:off x="1383665" y="1360427"/>
            <a:ext cx="2350136" cy="487108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B0710D2C-116E-3ED2-B3B1-9F9063C03487}"/>
              </a:ext>
            </a:extLst>
          </p:cNvPr>
          <p:cNvSpPr/>
          <p:nvPr/>
        </p:nvSpPr>
        <p:spPr>
          <a:xfrm>
            <a:off x="8206057" y="3429000"/>
            <a:ext cx="3528743" cy="280172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9D28010-3CBD-96FB-32E1-E796C345EE71}"/>
              </a:ext>
            </a:extLst>
          </p:cNvPr>
          <p:cNvSpPr txBox="1"/>
          <p:nvPr/>
        </p:nvSpPr>
        <p:spPr>
          <a:xfrm>
            <a:off x="9076369" y="3853351"/>
            <a:ext cx="1862061" cy="646331"/>
          </a:xfrm>
          <a:prstGeom prst="rect">
            <a:avLst/>
          </a:prstGeom>
          <a:noFill/>
        </p:spPr>
        <p:txBody>
          <a:bodyPr wrap="square" rtlCol="0">
            <a:spAutoFit/>
          </a:bodyPr>
          <a:lstStyle/>
          <a:p>
            <a:pPr algn="ctr"/>
            <a:r>
              <a:rPr lang="es-ES" dirty="0" err="1"/>
              <a:t>Component</a:t>
            </a:r>
            <a:r>
              <a:rPr lang="es-ES" dirty="0"/>
              <a:t> </a:t>
            </a:r>
            <a:r>
              <a:rPr lang="es-ES" dirty="0" err="1"/>
              <a:t>screenshot</a:t>
            </a:r>
            <a:endParaRPr lang="en-US" dirty="0"/>
          </a:p>
        </p:txBody>
      </p:sp>
      <p:sp>
        <p:nvSpPr>
          <p:cNvPr id="2" name="CuadroTexto 1">
            <a:extLst>
              <a:ext uri="{FF2B5EF4-FFF2-40B4-BE49-F238E27FC236}">
                <a16:creationId xmlns:a16="http://schemas.microsoft.com/office/drawing/2014/main" id="{F1672BD7-9CC4-A294-056D-842407AA58A9}"/>
              </a:ext>
            </a:extLst>
          </p:cNvPr>
          <p:cNvSpPr txBox="1"/>
          <p:nvPr/>
        </p:nvSpPr>
        <p:spPr>
          <a:xfrm>
            <a:off x="609600" y="1981200"/>
            <a:ext cx="2057400" cy="369332"/>
          </a:xfrm>
          <a:prstGeom prst="rect">
            <a:avLst/>
          </a:prstGeom>
          <a:noFill/>
        </p:spPr>
        <p:txBody>
          <a:bodyPr wrap="square" rtlCol="0">
            <a:spAutoFit/>
          </a:bodyPr>
          <a:lstStyle/>
          <a:p>
            <a:r>
              <a:rPr lang="es-ES" b="1" i="1" u="sng" dirty="0">
                <a:solidFill>
                  <a:schemeClr val="accent4">
                    <a:lumMod val="75000"/>
                  </a:schemeClr>
                </a:solidFill>
              </a:rPr>
              <a:t>MZI</a:t>
            </a:r>
          </a:p>
        </p:txBody>
      </p:sp>
      <p:pic>
        <p:nvPicPr>
          <p:cNvPr id="5" name="Imagen 4">
            <a:extLst>
              <a:ext uri="{FF2B5EF4-FFF2-40B4-BE49-F238E27FC236}">
                <a16:creationId xmlns:a16="http://schemas.microsoft.com/office/drawing/2014/main" id="{A67EA24E-A436-2132-3D33-1941B64A6A6A}"/>
              </a:ext>
            </a:extLst>
          </p:cNvPr>
          <p:cNvPicPr>
            <a:picLocks noChangeAspect="1"/>
          </p:cNvPicPr>
          <p:nvPr/>
        </p:nvPicPr>
        <p:blipFill>
          <a:blip r:embed="rId4"/>
          <a:srcRect b="30043"/>
          <a:stretch>
            <a:fillRect/>
          </a:stretch>
        </p:blipFill>
        <p:spPr>
          <a:xfrm>
            <a:off x="1441666" y="1412368"/>
            <a:ext cx="2234133" cy="4767203"/>
          </a:xfrm>
          <a:prstGeom prst="rect">
            <a:avLst/>
          </a:prstGeom>
        </p:spPr>
      </p:pic>
      <p:sp>
        <p:nvSpPr>
          <p:cNvPr id="12" name="Rectángulo 11">
            <a:extLst>
              <a:ext uri="{FF2B5EF4-FFF2-40B4-BE49-F238E27FC236}">
                <a16:creationId xmlns:a16="http://schemas.microsoft.com/office/drawing/2014/main" id="{5F8649FA-3B60-BF39-A045-22D1C8DEDABE}"/>
              </a:ext>
            </a:extLst>
          </p:cNvPr>
          <p:cNvSpPr/>
          <p:nvPr/>
        </p:nvSpPr>
        <p:spPr>
          <a:xfrm>
            <a:off x="3821894" y="1360427"/>
            <a:ext cx="2042991" cy="487108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Imagen 17">
            <a:extLst>
              <a:ext uri="{FF2B5EF4-FFF2-40B4-BE49-F238E27FC236}">
                <a16:creationId xmlns:a16="http://schemas.microsoft.com/office/drawing/2014/main" id="{2D4EDA31-6BA3-DC4D-4169-2BD9FE8ED5CF}"/>
              </a:ext>
            </a:extLst>
          </p:cNvPr>
          <p:cNvPicPr>
            <a:picLocks noChangeAspect="1"/>
          </p:cNvPicPr>
          <p:nvPr/>
        </p:nvPicPr>
        <p:blipFill>
          <a:blip r:embed="rId5"/>
          <a:srcRect b="16078"/>
          <a:stretch>
            <a:fillRect/>
          </a:stretch>
        </p:blipFill>
        <p:spPr>
          <a:xfrm>
            <a:off x="3858123" y="1421148"/>
            <a:ext cx="2006761" cy="4773731"/>
          </a:xfrm>
          <a:prstGeom prst="rect">
            <a:avLst/>
          </a:prstGeom>
        </p:spPr>
      </p:pic>
      <p:sp>
        <p:nvSpPr>
          <p:cNvPr id="20" name="Rectángulo 19">
            <a:extLst>
              <a:ext uri="{FF2B5EF4-FFF2-40B4-BE49-F238E27FC236}">
                <a16:creationId xmlns:a16="http://schemas.microsoft.com/office/drawing/2014/main" id="{867CB82E-494E-0656-AC99-ADFE2FCF421E}"/>
              </a:ext>
            </a:extLst>
          </p:cNvPr>
          <p:cNvSpPr/>
          <p:nvPr/>
        </p:nvSpPr>
        <p:spPr>
          <a:xfrm>
            <a:off x="5968435" y="1359641"/>
            <a:ext cx="2090198" cy="487108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Imagen 23">
            <a:extLst>
              <a:ext uri="{FF2B5EF4-FFF2-40B4-BE49-F238E27FC236}">
                <a16:creationId xmlns:a16="http://schemas.microsoft.com/office/drawing/2014/main" id="{1E8F207E-AF1D-C286-8738-0EED3970197D}"/>
              </a:ext>
            </a:extLst>
          </p:cNvPr>
          <p:cNvPicPr>
            <a:picLocks noChangeAspect="1"/>
          </p:cNvPicPr>
          <p:nvPr/>
        </p:nvPicPr>
        <p:blipFill>
          <a:blip r:embed="rId6"/>
          <a:srcRect b="18835"/>
          <a:stretch>
            <a:fillRect/>
          </a:stretch>
        </p:blipFill>
        <p:spPr>
          <a:xfrm>
            <a:off x="6001705" y="1412368"/>
            <a:ext cx="2056928" cy="4799072"/>
          </a:xfrm>
          <a:prstGeom prst="rect">
            <a:avLst/>
          </a:prstGeom>
        </p:spPr>
      </p:pic>
      <p:pic>
        <p:nvPicPr>
          <p:cNvPr id="27" name="Imagen 26">
            <a:extLst>
              <a:ext uri="{FF2B5EF4-FFF2-40B4-BE49-F238E27FC236}">
                <a16:creationId xmlns:a16="http://schemas.microsoft.com/office/drawing/2014/main" id="{6641A16F-33F4-A0B5-6994-BEA71018CBAE}"/>
              </a:ext>
            </a:extLst>
          </p:cNvPr>
          <p:cNvPicPr>
            <a:picLocks noChangeAspect="1"/>
          </p:cNvPicPr>
          <p:nvPr/>
        </p:nvPicPr>
        <p:blipFill>
          <a:blip r:embed="rId7"/>
          <a:stretch>
            <a:fillRect/>
          </a:stretch>
        </p:blipFill>
        <p:spPr>
          <a:xfrm>
            <a:off x="8198443" y="1421148"/>
            <a:ext cx="2245424" cy="1550652"/>
          </a:xfrm>
          <a:prstGeom prst="rect">
            <a:avLst/>
          </a:prstGeom>
        </p:spPr>
      </p:pic>
      <p:sp>
        <p:nvSpPr>
          <p:cNvPr id="29" name="Rectángulo 28">
            <a:extLst>
              <a:ext uri="{FF2B5EF4-FFF2-40B4-BE49-F238E27FC236}">
                <a16:creationId xmlns:a16="http://schemas.microsoft.com/office/drawing/2014/main" id="{4170AD54-1FF4-70DE-CE6E-0C5DAFB45FC5}"/>
              </a:ext>
            </a:extLst>
          </p:cNvPr>
          <p:cNvSpPr/>
          <p:nvPr/>
        </p:nvSpPr>
        <p:spPr>
          <a:xfrm>
            <a:off x="8168897" y="1382309"/>
            <a:ext cx="2346704" cy="166569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Imagen 30">
            <a:extLst>
              <a:ext uri="{FF2B5EF4-FFF2-40B4-BE49-F238E27FC236}">
                <a16:creationId xmlns:a16="http://schemas.microsoft.com/office/drawing/2014/main" id="{55ADEA1C-68DF-55D4-0C13-6CADF0C29F90}"/>
              </a:ext>
            </a:extLst>
          </p:cNvPr>
          <p:cNvPicPr>
            <a:picLocks noChangeAspect="1"/>
          </p:cNvPicPr>
          <p:nvPr/>
        </p:nvPicPr>
        <p:blipFill>
          <a:blip r:embed="rId8"/>
          <a:stretch>
            <a:fillRect/>
          </a:stretch>
        </p:blipFill>
        <p:spPr>
          <a:xfrm>
            <a:off x="8257368" y="3505200"/>
            <a:ext cx="3422842" cy="2655841"/>
          </a:xfrm>
          <a:prstGeom prst="rect">
            <a:avLst/>
          </a:prstGeom>
        </p:spPr>
      </p:pic>
    </p:spTree>
    <p:extLst>
      <p:ext uri="{BB962C8B-B14F-4D97-AF65-F5344CB8AC3E}">
        <p14:creationId xmlns:p14="http://schemas.microsoft.com/office/powerpoint/2010/main" val="722778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DE40E-D6F8-599E-0F8C-25FE725DABC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19D5E84-2DA1-1509-0CB1-78D7FB7E6AF6}"/>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294027AC-BF64-A9DC-C78E-900650AB8D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25A8883-8D87-F9B7-9331-068F8F8EA676}"/>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3A90AB23-52E7-6419-D570-BD6A188D6BE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0C617B1E-DA31-6329-09E8-B3CDE71820CC}"/>
              </a:ext>
            </a:extLst>
          </p:cNvPr>
          <p:cNvSpPr txBox="1"/>
          <p:nvPr/>
        </p:nvSpPr>
        <p:spPr>
          <a:xfrm>
            <a:off x="609600" y="1600200"/>
            <a:ext cx="11199971" cy="1969770"/>
          </a:xfrm>
          <a:prstGeom prst="rect">
            <a:avLst/>
          </a:prstGeom>
          <a:solidFill>
            <a:schemeClr val="bg1">
              <a:lumMod val="95000"/>
            </a:schemeClr>
          </a:solidFill>
          <a:ln w="28575">
            <a:solidFill>
              <a:srgbClr val="E0700D"/>
            </a:solidFill>
          </a:ln>
        </p:spPr>
        <p:txBody>
          <a:bodyPr wrap="square" rtlCol="0">
            <a:spAutoFit/>
          </a:bodyPr>
          <a:lstStyle/>
          <a:p>
            <a:pPr algn="just"/>
            <a:endParaRPr lang="en-US" sz="1100" b="1" i="1" dirty="0">
              <a:latin typeface="Arial" panose="020B0604020202020204" pitchFamily="34" charset="0"/>
              <a:cs typeface="Arial" panose="020B0604020202020204" pitchFamily="34" charset="0"/>
            </a:endParaRPr>
          </a:p>
          <a:p>
            <a:pPr algn="just"/>
            <a:r>
              <a:rPr lang="en-US" sz="1100" b="1" i="1" dirty="0">
                <a:latin typeface="Arial" panose="020B0604020202020204" pitchFamily="34" charset="0"/>
                <a:cs typeface="Arial" panose="020B0604020202020204" pitchFamily="34" charset="0"/>
              </a:rPr>
              <a:t>Describe component. </a:t>
            </a:r>
            <a:r>
              <a:rPr lang="en-US" sz="1100" b="1" i="1" dirty="0">
                <a:solidFill>
                  <a:srgbClr val="FF0000"/>
                </a:solidFill>
                <a:latin typeface="Arial" panose="020B0604020202020204" pitchFamily="34" charset="0"/>
                <a:cs typeface="Arial" panose="020B0604020202020204" pitchFamily="34" charset="0"/>
              </a:rPr>
              <a:t>Example</a:t>
            </a:r>
            <a:r>
              <a:rPr lang="en-US" sz="1100" b="1" i="1" dirty="0">
                <a:latin typeface="Arial" panose="020B0604020202020204" pitchFamily="34" charset="0"/>
                <a:cs typeface="Arial" panose="020B0604020202020204" pitchFamily="34" charset="0"/>
              </a:rPr>
              <a:t>: this is the MMI we designed in Lab2, it is a 2x2 with paired interference, target coupling constant K = 0.5. The relevant dimensions are W_MMI = XX µm L_MMI = YY µm and the I/O positions with respect to center are at +/- </a:t>
            </a:r>
            <a:r>
              <a:rPr lang="en-US" sz="1100" b="1" i="1" dirty="0" err="1">
                <a:latin typeface="Arial" panose="020B0604020202020204" pitchFamily="34" charset="0"/>
                <a:cs typeface="Arial" panose="020B0604020202020204" pitchFamily="34" charset="0"/>
              </a:rPr>
              <a:t>dY</a:t>
            </a:r>
            <a:r>
              <a:rPr lang="en-US" sz="1100" b="1" i="1" dirty="0">
                <a:latin typeface="Arial" panose="020B0604020202020204" pitchFamily="34" charset="0"/>
                <a:cs typeface="Arial" panose="020B0604020202020204" pitchFamily="34" charset="0"/>
              </a:rPr>
              <a:t> µm</a:t>
            </a:r>
          </a:p>
          <a:p>
            <a:pPr algn="just"/>
            <a:endParaRPr lang="en-US" sz="1100" dirty="0">
              <a:latin typeface="Arial" panose="020B0604020202020204" pitchFamily="34" charset="0"/>
              <a:cs typeface="Arial" panose="020B0604020202020204" pitchFamily="34" charset="0"/>
            </a:endParaRPr>
          </a:p>
          <a:p>
            <a:pPr algn="just"/>
            <a:r>
              <a:rPr lang="es-ES" sz="1100" dirty="0">
                <a:latin typeface="Arial" panose="020B0604020202020204" pitchFamily="34" charset="0"/>
                <a:cs typeface="Arial" panose="020B0604020202020204" pitchFamily="34" charset="0"/>
              </a:rPr>
              <a:t>El tercer componente es un interferómetro Mach-Zehnder (MZI) balanceado, formado por dos MMI 2×2 con un reparto de potencia aproximado de 50:50. La primera MMI divide la señal entre los dos brazos y la segunda vuelve a combinarla. Cada MMI tiene una anchura de 12 µm y una longitud aproximada de 109,7 µm, mientras que las guías de onda tienen una anchura de 1,2 µm.</a:t>
            </a:r>
          </a:p>
          <a:p>
            <a:pPr algn="just"/>
            <a:endParaRPr lang="es-ES" sz="1100" dirty="0">
              <a:latin typeface="Arial" panose="020B0604020202020204" pitchFamily="34" charset="0"/>
              <a:cs typeface="Arial" panose="020B0604020202020204" pitchFamily="34" charset="0"/>
            </a:endParaRPr>
          </a:p>
          <a:p>
            <a:pPr algn="just"/>
            <a:r>
              <a:rPr lang="es-ES" sz="1100" dirty="0">
                <a:latin typeface="Arial" panose="020B0604020202020204" pitchFamily="34" charset="0"/>
                <a:cs typeface="Arial" panose="020B0604020202020204" pitchFamily="34" charset="0"/>
              </a:rPr>
              <a:t>Los dos brazos tienen una longitud recta de 220 µm y no presentan diferencia de longitud, ya que el parámetro delta L es igual a 0. La separación entre los brazos es de 40 µm, por lo que están situados a ±20 µm respecto al centro. El dispositivo dispone de dos entradas y dos salidas, colocadas a ±10 µm respecto al centro.</a:t>
            </a: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7817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F97CE-32C4-C9C0-CA6A-ABB8935FC75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FD7ACF0-D808-01D0-59E2-42EF0A8C0B7A}"/>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1E479F32-65A6-2307-C65E-B03EBADC9C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6F227A8-C259-D37A-1CA3-1471E0217BD5}"/>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EDCE7060-8E55-ECF7-514B-FA04A7973077}"/>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FC2690AF-5B0D-F922-0124-420FC7A8F094}"/>
              </a:ext>
            </a:extLst>
          </p:cNvPr>
          <p:cNvSpPr/>
          <p:nvPr/>
        </p:nvSpPr>
        <p:spPr>
          <a:xfrm>
            <a:off x="3114084" y="1227809"/>
            <a:ext cx="2350136" cy="50886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44C0590C-5E9C-EB3A-4C4E-8C91E613925B}"/>
              </a:ext>
            </a:extLst>
          </p:cNvPr>
          <p:cNvSpPr/>
          <p:nvPr/>
        </p:nvSpPr>
        <p:spPr>
          <a:xfrm>
            <a:off x="8109872" y="3497667"/>
            <a:ext cx="3528743" cy="280172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357E8B59-2965-B1F6-D2CA-558665BD5155}"/>
              </a:ext>
            </a:extLst>
          </p:cNvPr>
          <p:cNvSpPr txBox="1"/>
          <p:nvPr/>
        </p:nvSpPr>
        <p:spPr>
          <a:xfrm>
            <a:off x="8109872" y="3791464"/>
            <a:ext cx="1862061" cy="646331"/>
          </a:xfrm>
          <a:prstGeom prst="rect">
            <a:avLst/>
          </a:prstGeom>
          <a:noFill/>
        </p:spPr>
        <p:txBody>
          <a:bodyPr wrap="square" rtlCol="0">
            <a:spAutoFit/>
          </a:bodyPr>
          <a:lstStyle/>
          <a:p>
            <a:pPr algn="ctr"/>
            <a:r>
              <a:rPr lang="es-ES" dirty="0" err="1"/>
              <a:t>Component</a:t>
            </a:r>
            <a:r>
              <a:rPr lang="es-ES" dirty="0"/>
              <a:t> </a:t>
            </a:r>
            <a:r>
              <a:rPr lang="es-ES" dirty="0" err="1"/>
              <a:t>screenshot</a:t>
            </a:r>
            <a:endParaRPr lang="en-US" dirty="0"/>
          </a:p>
        </p:txBody>
      </p:sp>
      <p:sp>
        <p:nvSpPr>
          <p:cNvPr id="2" name="CuadroTexto 1">
            <a:extLst>
              <a:ext uri="{FF2B5EF4-FFF2-40B4-BE49-F238E27FC236}">
                <a16:creationId xmlns:a16="http://schemas.microsoft.com/office/drawing/2014/main" id="{1D3683F3-5E8B-AE90-BE75-FE9369660709}"/>
              </a:ext>
            </a:extLst>
          </p:cNvPr>
          <p:cNvSpPr txBox="1"/>
          <p:nvPr/>
        </p:nvSpPr>
        <p:spPr>
          <a:xfrm>
            <a:off x="1584771" y="2667000"/>
            <a:ext cx="2057400" cy="646331"/>
          </a:xfrm>
          <a:prstGeom prst="rect">
            <a:avLst/>
          </a:prstGeom>
          <a:noFill/>
        </p:spPr>
        <p:txBody>
          <a:bodyPr wrap="square" rtlCol="0">
            <a:spAutoFit/>
          </a:bodyPr>
          <a:lstStyle/>
          <a:p>
            <a:r>
              <a:rPr lang="es-ES" b="1" i="1" u="sng" dirty="0">
                <a:solidFill>
                  <a:schemeClr val="accent4">
                    <a:lumMod val="75000"/>
                  </a:schemeClr>
                </a:solidFill>
              </a:rPr>
              <a:t>Ring </a:t>
            </a:r>
          </a:p>
          <a:p>
            <a:r>
              <a:rPr lang="es-ES" b="1" i="1" u="sng" dirty="0" err="1">
                <a:solidFill>
                  <a:schemeClr val="accent4">
                    <a:lumMod val="75000"/>
                  </a:schemeClr>
                </a:solidFill>
              </a:rPr>
              <a:t>Resonator</a:t>
            </a:r>
            <a:endParaRPr lang="es-ES" b="1" i="1" u="sng" dirty="0">
              <a:solidFill>
                <a:schemeClr val="accent4">
                  <a:lumMod val="75000"/>
                </a:schemeClr>
              </a:solidFill>
            </a:endParaRPr>
          </a:p>
        </p:txBody>
      </p:sp>
      <p:sp>
        <p:nvSpPr>
          <p:cNvPr id="12" name="Rectángulo 11">
            <a:extLst>
              <a:ext uri="{FF2B5EF4-FFF2-40B4-BE49-F238E27FC236}">
                <a16:creationId xmlns:a16="http://schemas.microsoft.com/office/drawing/2014/main" id="{242AE488-173F-048C-1B8E-AEF58F0F4E8C}"/>
              </a:ext>
            </a:extLst>
          </p:cNvPr>
          <p:cNvSpPr/>
          <p:nvPr/>
        </p:nvSpPr>
        <p:spPr>
          <a:xfrm>
            <a:off x="5615443" y="1229468"/>
            <a:ext cx="2346704" cy="509663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ángulo 28">
            <a:extLst>
              <a:ext uri="{FF2B5EF4-FFF2-40B4-BE49-F238E27FC236}">
                <a16:creationId xmlns:a16="http://schemas.microsoft.com/office/drawing/2014/main" id="{D8EB3BC3-0E99-0784-E436-FA886CA75927}"/>
              </a:ext>
            </a:extLst>
          </p:cNvPr>
          <p:cNvSpPr/>
          <p:nvPr/>
        </p:nvSpPr>
        <p:spPr>
          <a:xfrm>
            <a:off x="8109872" y="1237337"/>
            <a:ext cx="2497357" cy="192136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D27D0E40-F6AB-1BF5-AEA2-F5E8D619BADE}"/>
              </a:ext>
            </a:extLst>
          </p:cNvPr>
          <p:cNvPicPr>
            <a:picLocks noChangeAspect="1"/>
          </p:cNvPicPr>
          <p:nvPr/>
        </p:nvPicPr>
        <p:blipFill>
          <a:blip r:embed="rId4"/>
          <a:srcRect b="16864"/>
          <a:stretch>
            <a:fillRect/>
          </a:stretch>
        </p:blipFill>
        <p:spPr>
          <a:xfrm>
            <a:off x="3169013" y="1266554"/>
            <a:ext cx="2274388" cy="4981635"/>
          </a:xfrm>
          <a:prstGeom prst="rect">
            <a:avLst/>
          </a:prstGeom>
        </p:spPr>
      </p:pic>
      <p:pic>
        <p:nvPicPr>
          <p:cNvPr id="11" name="Imagen 10">
            <a:extLst>
              <a:ext uri="{FF2B5EF4-FFF2-40B4-BE49-F238E27FC236}">
                <a16:creationId xmlns:a16="http://schemas.microsoft.com/office/drawing/2014/main" id="{D8D52D47-476B-BE8F-BBCC-723B161B2C2B}"/>
              </a:ext>
            </a:extLst>
          </p:cNvPr>
          <p:cNvPicPr>
            <a:picLocks noChangeAspect="1"/>
          </p:cNvPicPr>
          <p:nvPr/>
        </p:nvPicPr>
        <p:blipFill>
          <a:blip r:embed="rId5"/>
          <a:stretch>
            <a:fillRect/>
          </a:stretch>
        </p:blipFill>
        <p:spPr>
          <a:xfrm>
            <a:off x="5653327" y="1288325"/>
            <a:ext cx="2230326" cy="4967657"/>
          </a:xfrm>
          <a:prstGeom prst="rect">
            <a:avLst/>
          </a:prstGeom>
        </p:spPr>
      </p:pic>
      <p:pic>
        <p:nvPicPr>
          <p:cNvPr id="15" name="Imagen 14">
            <a:extLst>
              <a:ext uri="{FF2B5EF4-FFF2-40B4-BE49-F238E27FC236}">
                <a16:creationId xmlns:a16="http://schemas.microsoft.com/office/drawing/2014/main" id="{385D30A3-3762-1C40-2648-6FCF2A9371CB}"/>
              </a:ext>
            </a:extLst>
          </p:cNvPr>
          <p:cNvPicPr>
            <a:picLocks noChangeAspect="1"/>
          </p:cNvPicPr>
          <p:nvPr/>
        </p:nvPicPr>
        <p:blipFill>
          <a:blip r:embed="rId6"/>
          <a:stretch>
            <a:fillRect/>
          </a:stretch>
        </p:blipFill>
        <p:spPr>
          <a:xfrm>
            <a:off x="8154865" y="1299875"/>
            <a:ext cx="2410161" cy="1829055"/>
          </a:xfrm>
          <a:prstGeom prst="rect">
            <a:avLst/>
          </a:prstGeom>
        </p:spPr>
      </p:pic>
      <p:pic>
        <p:nvPicPr>
          <p:cNvPr id="19" name="Imagen 18">
            <a:extLst>
              <a:ext uri="{FF2B5EF4-FFF2-40B4-BE49-F238E27FC236}">
                <a16:creationId xmlns:a16="http://schemas.microsoft.com/office/drawing/2014/main" id="{86AA735D-69AF-9047-A701-65A77B49C044}"/>
              </a:ext>
            </a:extLst>
          </p:cNvPr>
          <p:cNvPicPr>
            <a:picLocks noChangeAspect="1"/>
          </p:cNvPicPr>
          <p:nvPr/>
        </p:nvPicPr>
        <p:blipFill>
          <a:blip r:embed="rId7"/>
          <a:stretch>
            <a:fillRect/>
          </a:stretch>
        </p:blipFill>
        <p:spPr>
          <a:xfrm>
            <a:off x="8155334" y="3531486"/>
            <a:ext cx="3450624" cy="2734087"/>
          </a:xfrm>
          <a:prstGeom prst="rect">
            <a:avLst/>
          </a:prstGeom>
        </p:spPr>
      </p:pic>
    </p:spTree>
    <p:extLst>
      <p:ext uri="{BB962C8B-B14F-4D97-AF65-F5344CB8AC3E}">
        <p14:creationId xmlns:p14="http://schemas.microsoft.com/office/powerpoint/2010/main" val="178319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72939-E6E8-0CEC-8149-189AF55733A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76C2C9D-5A06-B46B-A6FF-9763D82A8755}"/>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50271929-D10A-4824-2162-1296162B9C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B0E811-2E4D-32DC-ADE0-D7926F09EF52}"/>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EE333E56-B9AC-CF27-D6AC-EC58AC350AEE}"/>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AD9BA991-39EA-60B8-5AF3-EDFC2C792C6B}"/>
              </a:ext>
            </a:extLst>
          </p:cNvPr>
          <p:cNvSpPr txBox="1"/>
          <p:nvPr/>
        </p:nvSpPr>
        <p:spPr>
          <a:xfrm>
            <a:off x="609600" y="1600200"/>
            <a:ext cx="11199971" cy="1969770"/>
          </a:xfrm>
          <a:prstGeom prst="rect">
            <a:avLst/>
          </a:prstGeom>
          <a:solidFill>
            <a:schemeClr val="bg1">
              <a:lumMod val="95000"/>
            </a:schemeClr>
          </a:solidFill>
          <a:ln w="28575">
            <a:solidFill>
              <a:srgbClr val="E0700D"/>
            </a:solidFill>
          </a:ln>
        </p:spPr>
        <p:txBody>
          <a:bodyPr wrap="square" rtlCol="0">
            <a:spAutoFit/>
          </a:bodyPr>
          <a:lstStyle/>
          <a:p>
            <a:pPr algn="just"/>
            <a:endParaRPr lang="en-US" sz="1100" b="1" i="1" dirty="0">
              <a:latin typeface="Arial" panose="020B0604020202020204" pitchFamily="34" charset="0"/>
              <a:cs typeface="Arial" panose="020B0604020202020204" pitchFamily="34" charset="0"/>
            </a:endParaRPr>
          </a:p>
          <a:p>
            <a:pPr algn="just"/>
            <a:r>
              <a:rPr lang="en-US" sz="1100" b="1" i="1" dirty="0">
                <a:latin typeface="Arial" panose="020B0604020202020204" pitchFamily="34" charset="0"/>
                <a:cs typeface="Arial" panose="020B0604020202020204" pitchFamily="34" charset="0"/>
              </a:rPr>
              <a:t>Describe component. </a:t>
            </a:r>
            <a:r>
              <a:rPr lang="en-US" sz="1100" b="1" i="1" dirty="0">
                <a:solidFill>
                  <a:srgbClr val="FF0000"/>
                </a:solidFill>
                <a:latin typeface="Arial" panose="020B0604020202020204" pitchFamily="34" charset="0"/>
                <a:cs typeface="Arial" panose="020B0604020202020204" pitchFamily="34" charset="0"/>
              </a:rPr>
              <a:t>Example</a:t>
            </a:r>
            <a:r>
              <a:rPr lang="en-US" sz="1100" b="1" i="1" dirty="0">
                <a:latin typeface="Arial" panose="020B0604020202020204" pitchFamily="34" charset="0"/>
                <a:cs typeface="Arial" panose="020B0604020202020204" pitchFamily="34" charset="0"/>
              </a:rPr>
              <a:t>: this is the MMI we designed in Lab2, it is a 2x2 with paired interference, target coupling constant K = 0.5. The relevant dimensions are W_MMI = XX µm L_MMI = YY µm and the I/O positions with respect to center are at +/- </a:t>
            </a:r>
            <a:r>
              <a:rPr lang="en-US" sz="1100" b="1" i="1" dirty="0" err="1">
                <a:latin typeface="Arial" panose="020B0604020202020204" pitchFamily="34" charset="0"/>
                <a:cs typeface="Arial" panose="020B0604020202020204" pitchFamily="34" charset="0"/>
              </a:rPr>
              <a:t>dY</a:t>
            </a:r>
            <a:r>
              <a:rPr lang="en-US" sz="1100" b="1" i="1" dirty="0">
                <a:latin typeface="Arial" panose="020B0604020202020204" pitchFamily="34" charset="0"/>
                <a:cs typeface="Arial" panose="020B0604020202020204" pitchFamily="34" charset="0"/>
              </a:rPr>
              <a:t> µm</a:t>
            </a:r>
          </a:p>
          <a:p>
            <a:pPr algn="just"/>
            <a:endParaRPr lang="en-US" sz="1100" dirty="0">
              <a:latin typeface="Arial" panose="020B0604020202020204" pitchFamily="34" charset="0"/>
              <a:cs typeface="Arial" panose="020B0604020202020204" pitchFamily="34" charset="0"/>
            </a:endParaRPr>
          </a:p>
          <a:p>
            <a:pPr algn="just"/>
            <a:r>
              <a:rPr lang="es-ES" sz="1100" dirty="0">
                <a:latin typeface="Arial" panose="020B0604020202020204" pitchFamily="34" charset="0"/>
                <a:cs typeface="Arial" panose="020B0604020202020204" pitchFamily="34" charset="0"/>
              </a:rPr>
              <a:t>El cuarto componente es un resonador de anillo de tipo </a:t>
            </a:r>
            <a:r>
              <a:rPr lang="es-ES" sz="1100" dirty="0" err="1">
                <a:latin typeface="Arial" panose="020B0604020202020204" pitchFamily="34" charset="0"/>
                <a:cs typeface="Arial" panose="020B0604020202020204" pitchFamily="34" charset="0"/>
              </a:rPr>
              <a:t>all-pass</a:t>
            </a:r>
            <a:r>
              <a:rPr lang="es-ES" sz="1100" dirty="0">
                <a:latin typeface="Arial" panose="020B0604020202020204" pitchFamily="34" charset="0"/>
                <a:cs typeface="Arial" panose="020B0604020202020204" pitchFamily="34" charset="0"/>
              </a:rPr>
              <a:t>, formado por un MMI 2×2 con un reparto de potencia aproximado de 50:50 y un coeficiente de acoplamiento objetivo de K = 0,5. La longitud de batido de la MMI es de 219,4 µm, por lo que su longitud es de aproximadamente 109,7 µm. El cuerpo de la MMI tiene una anchura de 12 µm y las guías de onda una anchura de 1,2 µm.</a:t>
            </a:r>
          </a:p>
          <a:p>
            <a:pPr algn="just"/>
            <a:endParaRPr lang="es-ES" sz="1100" dirty="0">
              <a:latin typeface="Arial" panose="020B0604020202020204" pitchFamily="34" charset="0"/>
              <a:cs typeface="Arial" panose="020B0604020202020204" pitchFamily="34" charset="0"/>
            </a:endParaRPr>
          </a:p>
          <a:p>
            <a:pPr algn="just"/>
            <a:r>
              <a:rPr lang="es-ES" sz="1100" dirty="0">
                <a:latin typeface="Arial" panose="020B0604020202020204" pitchFamily="34" charset="0"/>
                <a:cs typeface="Arial" panose="020B0604020202020204" pitchFamily="34" charset="0"/>
              </a:rPr>
              <a:t>El anillo se cierra mediante dos tramos laterales y curvas con un radio de 20 µm. La altura del lazo es de 90 µm, obtenida a partir de una altura base de 70 µm y una longitud extra de 40 µm. El margen lateral es de 35 µm y los puertos de entrada y salida están situados en los extremos de la MMI.</a:t>
            </a: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3292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0B326-9401-25F2-2580-00531AC3167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FEDD51C-AA3F-BAC4-62C9-123D70433A6D}"/>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#2a – Notebook section 2. Layout Fundamentals</a:t>
            </a:r>
            <a:br>
              <a:rPr lang="en-US" sz="2500" dirty="0"/>
            </a:br>
            <a:r>
              <a:rPr lang="en-US" sz="1800" b="0" i="1" dirty="0"/>
              <a:t>“Once that we have a working 'new' component, we shall convert it into a Cell. This will allow us to have a hierarchical design”</a:t>
            </a:r>
            <a:endParaRPr sz="2500" b="0" i="1" dirty="0">
              <a:latin typeface="+mj-lt"/>
              <a:cs typeface="Lucida Sans"/>
            </a:endParaRPr>
          </a:p>
        </p:txBody>
      </p:sp>
      <p:pic>
        <p:nvPicPr>
          <p:cNvPr id="83" name="Gráfico 82">
            <a:extLst>
              <a:ext uri="{FF2B5EF4-FFF2-40B4-BE49-F238E27FC236}">
                <a16:creationId xmlns:a16="http://schemas.microsoft.com/office/drawing/2014/main" id="{19B7D739-AE52-EF15-0988-5BED2B142A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81BDF0E-EAF4-7CE4-45A8-D309EF1DED33}"/>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767292FD-DBDA-A639-0EAF-B01829EC0D5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08DD9890-115F-953D-7C6A-5161EEF2404E}"/>
              </a:ext>
            </a:extLst>
          </p:cNvPr>
          <p:cNvSpPr/>
          <p:nvPr/>
        </p:nvSpPr>
        <p:spPr>
          <a:xfrm>
            <a:off x="609441" y="2052162"/>
            <a:ext cx="6019959" cy="251291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B6F225A7-647A-6485-2FD9-565BE5EB3A7D}"/>
              </a:ext>
            </a:extLst>
          </p:cNvPr>
          <p:cNvSpPr txBox="1"/>
          <p:nvPr/>
        </p:nvSpPr>
        <p:spPr>
          <a:xfrm>
            <a:off x="1531412" y="3128095"/>
            <a:ext cx="3488647" cy="923330"/>
          </a:xfrm>
          <a:prstGeom prst="rect">
            <a:avLst/>
          </a:prstGeom>
          <a:noFill/>
        </p:spPr>
        <p:txBody>
          <a:bodyPr wrap="none" rtlCol="0">
            <a:spAutoFit/>
          </a:bodyPr>
          <a:lstStyle/>
          <a:p>
            <a:pPr algn="ctr"/>
            <a:r>
              <a:rPr lang="en-US" dirty="0"/>
              <a:t>Example code for</a:t>
            </a:r>
          </a:p>
          <a:p>
            <a:pPr algn="ctr"/>
            <a:r>
              <a:rPr lang="en-US" dirty="0"/>
              <a:t>“A die (chip) for a photonic layout”</a:t>
            </a:r>
          </a:p>
          <a:p>
            <a:pPr algn="ctr"/>
            <a:endParaRPr lang="en-US" dirty="0"/>
          </a:p>
        </p:txBody>
      </p:sp>
      <p:sp>
        <p:nvSpPr>
          <p:cNvPr id="8" name="Rectángulo 7">
            <a:extLst>
              <a:ext uri="{FF2B5EF4-FFF2-40B4-BE49-F238E27FC236}">
                <a16:creationId xmlns:a16="http://schemas.microsoft.com/office/drawing/2014/main" id="{06EEA69D-43B1-815F-663D-955D4B1ED9B0}"/>
              </a:ext>
            </a:extLst>
          </p:cNvPr>
          <p:cNvSpPr/>
          <p:nvPr/>
        </p:nvSpPr>
        <p:spPr>
          <a:xfrm>
            <a:off x="6987460" y="1418373"/>
            <a:ext cx="4648359" cy="394326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54E076C3-1507-9B04-8B9A-71618887D3B2}"/>
              </a:ext>
            </a:extLst>
          </p:cNvPr>
          <p:cNvSpPr txBox="1"/>
          <p:nvPr/>
        </p:nvSpPr>
        <p:spPr>
          <a:xfrm>
            <a:off x="9182781" y="2537912"/>
            <a:ext cx="1320234" cy="646331"/>
          </a:xfrm>
          <a:prstGeom prst="rect">
            <a:avLst/>
          </a:prstGeom>
          <a:noFill/>
        </p:spPr>
        <p:txBody>
          <a:bodyPr wrap="none" rtlCol="0">
            <a:spAutoFit/>
          </a:bodyPr>
          <a:lstStyle/>
          <a:p>
            <a:pPr algn="ctr"/>
            <a:r>
              <a:rPr lang="es-ES" dirty="0" err="1"/>
              <a:t>Example</a:t>
            </a:r>
            <a:r>
              <a:rPr lang="es-ES" dirty="0"/>
              <a:t> die</a:t>
            </a:r>
          </a:p>
          <a:p>
            <a:pPr algn="ct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278A3B18-FB11-C891-BB36-DCCC5976D8D1}"/>
              </a:ext>
            </a:extLst>
          </p:cNvPr>
          <p:cNvPicPr>
            <a:picLocks noChangeAspect="1"/>
          </p:cNvPicPr>
          <p:nvPr/>
        </p:nvPicPr>
        <p:blipFill>
          <a:blip r:embed="rId4"/>
          <a:stretch>
            <a:fillRect/>
          </a:stretch>
        </p:blipFill>
        <p:spPr>
          <a:xfrm>
            <a:off x="7102496" y="1496359"/>
            <a:ext cx="4436361" cy="3763474"/>
          </a:xfrm>
          <a:prstGeom prst="rect">
            <a:avLst/>
          </a:prstGeom>
        </p:spPr>
      </p:pic>
      <p:pic>
        <p:nvPicPr>
          <p:cNvPr id="10" name="Imagen 9">
            <a:extLst>
              <a:ext uri="{FF2B5EF4-FFF2-40B4-BE49-F238E27FC236}">
                <a16:creationId xmlns:a16="http://schemas.microsoft.com/office/drawing/2014/main" id="{05FAD1FD-04D5-7B3C-F417-40910CF7B50F}"/>
              </a:ext>
            </a:extLst>
          </p:cNvPr>
          <p:cNvPicPr>
            <a:picLocks noChangeAspect="1"/>
          </p:cNvPicPr>
          <p:nvPr/>
        </p:nvPicPr>
        <p:blipFill>
          <a:blip r:embed="rId5"/>
          <a:stretch>
            <a:fillRect/>
          </a:stretch>
        </p:blipFill>
        <p:spPr>
          <a:xfrm>
            <a:off x="653143" y="2106178"/>
            <a:ext cx="5992622" cy="2413811"/>
          </a:xfrm>
          <a:prstGeom prst="rect">
            <a:avLst/>
          </a:prstGeom>
        </p:spPr>
      </p:pic>
    </p:spTree>
    <p:extLst>
      <p:ext uri="{BB962C8B-B14F-4D97-AF65-F5344CB8AC3E}">
        <p14:creationId xmlns:p14="http://schemas.microsoft.com/office/powerpoint/2010/main" val="1303964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B0A8-BCE1-AF65-5AFA-79184BEDA90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DCA2EEE-70B8-D049-D7BD-B54DCCF3207D}"/>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#2a – Notebook section 2. Layout Fundamentals</a:t>
            </a:r>
            <a:br>
              <a:rPr lang="en-US" sz="2500" dirty="0"/>
            </a:br>
            <a:r>
              <a:rPr lang="en-US" sz="1800" b="0" i="1" dirty="0"/>
              <a:t>“Once that we have a working 'new' component, we shall convert it into a Cell. This will allow us to have a hierarchical design”</a:t>
            </a:r>
            <a:endParaRPr sz="2500" b="0" i="1" dirty="0">
              <a:latin typeface="+mj-lt"/>
              <a:cs typeface="Lucida Sans"/>
            </a:endParaRPr>
          </a:p>
        </p:txBody>
      </p:sp>
      <p:pic>
        <p:nvPicPr>
          <p:cNvPr id="83" name="Gráfico 82">
            <a:extLst>
              <a:ext uri="{FF2B5EF4-FFF2-40B4-BE49-F238E27FC236}">
                <a16:creationId xmlns:a16="http://schemas.microsoft.com/office/drawing/2014/main" id="{DDB8C9DA-7093-6464-A7C1-20B2A585A1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102C027-A211-C670-7EF5-D7A4650EEA98}"/>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3BB5A66E-75F8-8688-0D68-26E0DDB3AC86}"/>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5C0B36B-B4BD-C242-E1BB-26DD7AC56DB0}"/>
              </a:ext>
            </a:extLst>
          </p:cNvPr>
          <p:cNvSpPr txBox="1"/>
          <p:nvPr/>
        </p:nvSpPr>
        <p:spPr>
          <a:xfrm>
            <a:off x="609600" y="1600200"/>
            <a:ext cx="11199971" cy="1677382"/>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b="1" i="1" dirty="0">
              <a:latin typeface="Arial" panose="020B0604020202020204" pitchFamily="34" charset="0"/>
              <a:cs typeface="Arial" panose="020B0604020202020204" pitchFamily="34" charset="0"/>
            </a:endParaRPr>
          </a:p>
          <a:p>
            <a:pPr algn="just"/>
            <a:r>
              <a:rPr lang="en-US" sz="1200" b="1" i="1" dirty="0">
                <a:latin typeface="Arial" panose="020B0604020202020204" pitchFamily="34" charset="0"/>
                <a:cs typeface="Arial" panose="020B0604020202020204" pitchFamily="34" charset="0"/>
              </a:rPr>
              <a:t>Describe component:</a:t>
            </a:r>
          </a:p>
          <a:p>
            <a:pPr algn="just"/>
            <a:endParaRPr lang="en-US" sz="1200" b="1" i="1" dirty="0">
              <a:latin typeface="Arial" panose="020B0604020202020204" pitchFamily="34" charset="0"/>
              <a:cs typeface="Arial" panose="020B0604020202020204" pitchFamily="34" charset="0"/>
            </a:endParaRPr>
          </a:p>
          <a:p>
            <a:pPr algn="just"/>
            <a:r>
              <a:rPr lang="es-ES" sz="1100" dirty="0">
                <a:latin typeface="Arial" panose="020B0604020202020204" pitchFamily="34" charset="0"/>
                <a:cs typeface="Arial" panose="020B0604020202020204" pitchFamily="34" charset="0"/>
              </a:rPr>
              <a:t>Este componente representa el área de un chip fotónico o die. Tiene unas dimensiones de 5 mm por 5 mm y está definido mediante la capa FLOORPLAN, que marca los límites exteriores del diseño. Además, incluye un borde interior de 125 µm para delimitar la zona útil del chip.</a:t>
            </a:r>
          </a:p>
          <a:p>
            <a:pPr algn="just"/>
            <a:endParaRPr lang="es-ES" sz="1100" dirty="0">
              <a:latin typeface="Arial" panose="020B0604020202020204" pitchFamily="34" charset="0"/>
              <a:cs typeface="Arial" panose="020B0604020202020204" pitchFamily="34" charset="0"/>
            </a:endParaRPr>
          </a:p>
          <a:p>
            <a:pPr algn="just"/>
            <a:r>
              <a:rPr lang="es-ES" sz="1100" dirty="0">
                <a:latin typeface="Arial" panose="020B0604020202020204" pitchFamily="34" charset="0"/>
                <a:cs typeface="Arial" panose="020B0604020202020204" pitchFamily="34" charset="0"/>
              </a:rPr>
              <a:t>El die también incorpora un puerto de referencia llamado </a:t>
            </a:r>
            <a:r>
              <a:rPr lang="es-ES" sz="1100" dirty="0" err="1">
                <a:latin typeface="Arial" panose="020B0604020202020204" pitchFamily="34" charset="0"/>
                <a:cs typeface="Arial" panose="020B0604020202020204" pitchFamily="34" charset="0"/>
              </a:rPr>
              <a:t>block@org</a:t>
            </a:r>
            <a:r>
              <a:rPr lang="es-ES" sz="1100" dirty="0">
                <a:latin typeface="Arial" panose="020B0604020202020204" pitchFamily="34" charset="0"/>
                <a:cs typeface="Arial" panose="020B0604020202020204" pitchFamily="34" charset="0"/>
              </a:rPr>
              <a:t>, situado en la esquina inferior izquierda. Al convertirlo en una celda, se puede reutilizar como base para colocar y organizar otros componentes dentro de un diseño jerárquico.</a:t>
            </a:r>
          </a:p>
          <a:p>
            <a:pPr algn="just"/>
            <a:endParaRPr lang="en-US" sz="1200" b="1"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3508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281E-4B83-CADF-E05C-2779A19E8BE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C614703-AB72-E989-42B5-849A55E9B3E2}"/>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#2b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B2356666-601E-2F0B-B414-AFB7213C2F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6398BF1-A4DD-D652-E241-5E9DB50DD57A}"/>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CEC070D5-9297-7D8B-73E0-DC21D7D5CE0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D8C2352E-973A-F389-F6A1-D644E07F2E7E}"/>
              </a:ext>
            </a:extLst>
          </p:cNvPr>
          <p:cNvSpPr/>
          <p:nvPr/>
        </p:nvSpPr>
        <p:spPr>
          <a:xfrm>
            <a:off x="3136482" y="1431571"/>
            <a:ext cx="2971959" cy="493607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BAAAC818-8C43-CF5D-4DB7-21D1E6A0DEED}"/>
              </a:ext>
            </a:extLst>
          </p:cNvPr>
          <p:cNvSpPr/>
          <p:nvPr/>
        </p:nvSpPr>
        <p:spPr>
          <a:xfrm>
            <a:off x="6476841" y="1420406"/>
            <a:ext cx="4648359" cy="34563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E0254F2-3F36-2B82-F469-33464298D91B}"/>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pic>
        <p:nvPicPr>
          <p:cNvPr id="4" name="Imagen 3">
            <a:extLst>
              <a:ext uri="{FF2B5EF4-FFF2-40B4-BE49-F238E27FC236}">
                <a16:creationId xmlns:a16="http://schemas.microsoft.com/office/drawing/2014/main" id="{AC066F39-C040-BD03-4A43-5CC6C5E75AD1}"/>
              </a:ext>
            </a:extLst>
          </p:cNvPr>
          <p:cNvPicPr>
            <a:picLocks noChangeAspect="1"/>
          </p:cNvPicPr>
          <p:nvPr/>
        </p:nvPicPr>
        <p:blipFill>
          <a:blip r:embed="rId4"/>
          <a:stretch>
            <a:fillRect/>
          </a:stretch>
        </p:blipFill>
        <p:spPr>
          <a:xfrm>
            <a:off x="3187684" y="1502448"/>
            <a:ext cx="2844557" cy="4794320"/>
          </a:xfrm>
          <a:prstGeom prst="rect">
            <a:avLst/>
          </a:prstGeom>
        </p:spPr>
      </p:pic>
      <p:pic>
        <p:nvPicPr>
          <p:cNvPr id="10" name="Imagen 9">
            <a:extLst>
              <a:ext uri="{FF2B5EF4-FFF2-40B4-BE49-F238E27FC236}">
                <a16:creationId xmlns:a16="http://schemas.microsoft.com/office/drawing/2014/main" id="{7B0CB03D-D33E-F68D-1984-079277664290}"/>
              </a:ext>
            </a:extLst>
          </p:cNvPr>
          <p:cNvPicPr>
            <a:picLocks noChangeAspect="1"/>
          </p:cNvPicPr>
          <p:nvPr/>
        </p:nvPicPr>
        <p:blipFill>
          <a:blip r:embed="rId5"/>
          <a:stretch>
            <a:fillRect/>
          </a:stretch>
        </p:blipFill>
        <p:spPr>
          <a:xfrm>
            <a:off x="6546885" y="1502448"/>
            <a:ext cx="4499622" cy="3298152"/>
          </a:xfrm>
          <a:prstGeom prst="rect">
            <a:avLst/>
          </a:prstGeom>
        </p:spPr>
      </p:pic>
      <p:sp>
        <p:nvSpPr>
          <p:cNvPr id="12" name="CuadroTexto 11">
            <a:extLst>
              <a:ext uri="{FF2B5EF4-FFF2-40B4-BE49-F238E27FC236}">
                <a16:creationId xmlns:a16="http://schemas.microsoft.com/office/drawing/2014/main" id="{CBEF818B-A6FE-877B-543E-B35A0E67C675}"/>
              </a:ext>
            </a:extLst>
          </p:cNvPr>
          <p:cNvSpPr txBox="1"/>
          <p:nvPr/>
        </p:nvSpPr>
        <p:spPr>
          <a:xfrm>
            <a:off x="728833" y="2496339"/>
            <a:ext cx="2057400" cy="923330"/>
          </a:xfrm>
          <a:prstGeom prst="rect">
            <a:avLst/>
          </a:prstGeom>
          <a:noFill/>
        </p:spPr>
        <p:txBody>
          <a:bodyPr wrap="square" rtlCol="0">
            <a:spAutoFit/>
          </a:bodyPr>
          <a:lstStyle/>
          <a:p>
            <a:pPr algn="ctr"/>
            <a:r>
              <a:rPr lang="es-ES" b="1" i="1" u="sng" dirty="0" err="1">
                <a:solidFill>
                  <a:schemeClr val="accent4">
                    <a:lumMod val="75000"/>
                  </a:schemeClr>
                </a:solidFill>
              </a:rPr>
              <a:t>Directional</a:t>
            </a:r>
            <a:r>
              <a:rPr lang="es-ES" b="1" i="1" u="sng" dirty="0">
                <a:solidFill>
                  <a:schemeClr val="accent4">
                    <a:lumMod val="75000"/>
                  </a:schemeClr>
                </a:solidFill>
              </a:rPr>
              <a:t> </a:t>
            </a:r>
          </a:p>
          <a:p>
            <a:pPr algn="ctr"/>
            <a:r>
              <a:rPr lang="es-ES" b="1" i="1" u="sng" dirty="0" err="1">
                <a:solidFill>
                  <a:schemeClr val="accent4">
                    <a:lumMod val="75000"/>
                  </a:schemeClr>
                </a:solidFill>
              </a:rPr>
              <a:t>coupler</a:t>
            </a:r>
            <a:r>
              <a:rPr lang="es-ES" b="1" i="1" u="sng" dirty="0">
                <a:solidFill>
                  <a:schemeClr val="accent4">
                    <a:lumMod val="75000"/>
                  </a:schemeClr>
                </a:solidFill>
              </a:rPr>
              <a:t> </a:t>
            </a:r>
          </a:p>
          <a:p>
            <a:pPr algn="ctr"/>
            <a:r>
              <a:rPr lang="es-ES" b="1" i="1" u="sng" dirty="0" err="1">
                <a:solidFill>
                  <a:schemeClr val="accent4">
                    <a:lumMod val="75000"/>
                  </a:schemeClr>
                </a:solidFill>
              </a:rPr>
              <a:t>cell</a:t>
            </a:r>
            <a:endParaRPr lang="es-ES" b="1" i="1" u="sng" dirty="0">
              <a:solidFill>
                <a:schemeClr val="accent4">
                  <a:lumMod val="75000"/>
                </a:schemeClr>
              </a:solidFill>
            </a:endParaRPr>
          </a:p>
        </p:txBody>
      </p:sp>
    </p:spTree>
    <p:extLst>
      <p:ext uri="{BB962C8B-B14F-4D97-AF65-F5344CB8AC3E}">
        <p14:creationId xmlns:p14="http://schemas.microsoft.com/office/powerpoint/2010/main" val="1504002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64CBB-AC41-C071-F7CE-5AB395BD493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F8A987-5E54-F243-D479-96BB436EAE26}"/>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#2b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C6498339-4E0C-5515-83F4-5F74B446D2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D884CE5-C4CC-ECD2-EB08-0159D7076D46}"/>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7A9A32F5-2210-CCBB-F0F4-DC374603159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B44729E2-2632-2854-7CF7-AA7D478AB253}"/>
              </a:ext>
            </a:extLst>
          </p:cNvPr>
          <p:cNvSpPr/>
          <p:nvPr/>
        </p:nvSpPr>
        <p:spPr>
          <a:xfrm>
            <a:off x="2856780" y="1418373"/>
            <a:ext cx="3070623" cy="493607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F23AD977-E356-E6E4-EA80-369F5FA79DBC}"/>
              </a:ext>
            </a:extLst>
          </p:cNvPr>
          <p:cNvSpPr/>
          <p:nvPr/>
        </p:nvSpPr>
        <p:spPr>
          <a:xfrm>
            <a:off x="6067727" y="3281724"/>
            <a:ext cx="3703314" cy="2757589"/>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31C76A67-66CF-8054-C67D-10ED0593F007}"/>
              </a:ext>
            </a:extLst>
          </p:cNvPr>
          <p:cNvSpPr txBox="1"/>
          <p:nvPr/>
        </p:nvSpPr>
        <p:spPr>
          <a:xfrm>
            <a:off x="952500" y="2602736"/>
            <a:ext cx="2057400" cy="646331"/>
          </a:xfrm>
          <a:prstGeom prst="rect">
            <a:avLst/>
          </a:prstGeom>
          <a:noFill/>
        </p:spPr>
        <p:txBody>
          <a:bodyPr wrap="square" rtlCol="0">
            <a:spAutoFit/>
          </a:bodyPr>
          <a:lstStyle/>
          <a:p>
            <a:pPr algn="ctr"/>
            <a:r>
              <a:rPr lang="es-ES" b="1" i="1" u="sng" dirty="0">
                <a:solidFill>
                  <a:schemeClr val="accent4">
                    <a:lumMod val="75000"/>
                  </a:schemeClr>
                </a:solidFill>
              </a:rPr>
              <a:t>MMI</a:t>
            </a:r>
          </a:p>
          <a:p>
            <a:pPr algn="ctr"/>
            <a:r>
              <a:rPr lang="es-ES" b="1" i="1" u="sng" dirty="0" err="1">
                <a:solidFill>
                  <a:schemeClr val="accent4">
                    <a:lumMod val="75000"/>
                  </a:schemeClr>
                </a:solidFill>
              </a:rPr>
              <a:t>cell</a:t>
            </a:r>
            <a:endParaRPr lang="es-ES" b="1" i="1" u="sng" dirty="0">
              <a:solidFill>
                <a:schemeClr val="accent4">
                  <a:lumMod val="75000"/>
                </a:schemeClr>
              </a:solidFill>
            </a:endParaRPr>
          </a:p>
        </p:txBody>
      </p:sp>
      <p:pic>
        <p:nvPicPr>
          <p:cNvPr id="5" name="Imagen 4">
            <a:extLst>
              <a:ext uri="{FF2B5EF4-FFF2-40B4-BE49-F238E27FC236}">
                <a16:creationId xmlns:a16="http://schemas.microsoft.com/office/drawing/2014/main" id="{4D81CE00-0C91-4764-E6FB-609AE9A2FC46}"/>
              </a:ext>
            </a:extLst>
          </p:cNvPr>
          <p:cNvPicPr>
            <a:picLocks noChangeAspect="1"/>
          </p:cNvPicPr>
          <p:nvPr/>
        </p:nvPicPr>
        <p:blipFill>
          <a:blip r:embed="rId4"/>
          <a:srcRect b="12881"/>
          <a:stretch>
            <a:fillRect/>
          </a:stretch>
        </p:blipFill>
        <p:spPr>
          <a:xfrm>
            <a:off x="2895600" y="1457304"/>
            <a:ext cx="2995333" cy="4869302"/>
          </a:xfrm>
          <a:prstGeom prst="rect">
            <a:avLst/>
          </a:prstGeom>
        </p:spPr>
      </p:pic>
      <p:sp>
        <p:nvSpPr>
          <p:cNvPr id="17" name="Rectángulo 16">
            <a:extLst>
              <a:ext uri="{FF2B5EF4-FFF2-40B4-BE49-F238E27FC236}">
                <a16:creationId xmlns:a16="http://schemas.microsoft.com/office/drawing/2014/main" id="{3FA3373E-9266-B15B-6841-CB91AF0FAD2A}"/>
              </a:ext>
            </a:extLst>
          </p:cNvPr>
          <p:cNvSpPr/>
          <p:nvPr/>
        </p:nvSpPr>
        <p:spPr>
          <a:xfrm>
            <a:off x="6066453" y="1995271"/>
            <a:ext cx="2490489" cy="107447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Imagen 18">
            <a:extLst>
              <a:ext uri="{FF2B5EF4-FFF2-40B4-BE49-F238E27FC236}">
                <a16:creationId xmlns:a16="http://schemas.microsoft.com/office/drawing/2014/main" id="{CADE9316-E643-5A8F-C26D-7DEFEF79B689}"/>
              </a:ext>
            </a:extLst>
          </p:cNvPr>
          <p:cNvPicPr>
            <a:picLocks noChangeAspect="1"/>
          </p:cNvPicPr>
          <p:nvPr/>
        </p:nvPicPr>
        <p:blipFill>
          <a:blip r:embed="rId5"/>
          <a:stretch>
            <a:fillRect/>
          </a:stretch>
        </p:blipFill>
        <p:spPr>
          <a:xfrm>
            <a:off x="6116266" y="2013986"/>
            <a:ext cx="2381582" cy="1038688"/>
          </a:xfrm>
          <a:prstGeom prst="rect">
            <a:avLst/>
          </a:prstGeom>
        </p:spPr>
      </p:pic>
      <p:pic>
        <p:nvPicPr>
          <p:cNvPr id="21" name="Imagen 20">
            <a:extLst>
              <a:ext uri="{FF2B5EF4-FFF2-40B4-BE49-F238E27FC236}">
                <a16:creationId xmlns:a16="http://schemas.microsoft.com/office/drawing/2014/main" id="{7A9618FC-A444-181A-D814-DDC0B81F0CF7}"/>
              </a:ext>
            </a:extLst>
          </p:cNvPr>
          <p:cNvPicPr>
            <a:picLocks noChangeAspect="1"/>
          </p:cNvPicPr>
          <p:nvPr/>
        </p:nvPicPr>
        <p:blipFill>
          <a:blip r:embed="rId6"/>
          <a:stretch>
            <a:fillRect/>
          </a:stretch>
        </p:blipFill>
        <p:spPr>
          <a:xfrm>
            <a:off x="6096000" y="3352800"/>
            <a:ext cx="3646768" cy="2615435"/>
          </a:xfrm>
          <a:prstGeom prst="rect">
            <a:avLst/>
          </a:prstGeom>
        </p:spPr>
      </p:pic>
    </p:spTree>
    <p:extLst>
      <p:ext uri="{BB962C8B-B14F-4D97-AF65-F5344CB8AC3E}">
        <p14:creationId xmlns:p14="http://schemas.microsoft.com/office/powerpoint/2010/main" val="4288286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93068-D5DD-8893-5719-7A778E0DBA3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20745FA-F176-06D0-1D0A-A5D518722509}"/>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#2b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C698C9A4-A7AA-95EC-6A8C-7ED170B36F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E3C2192-5A64-A1BA-6E44-210FF54EB1BB}"/>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3124F697-780C-9219-B6BB-A393ABD844E5}"/>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BF82B389-BB94-8674-5C14-CDC1718492D6}"/>
              </a:ext>
            </a:extLst>
          </p:cNvPr>
          <p:cNvSpPr/>
          <p:nvPr/>
        </p:nvSpPr>
        <p:spPr>
          <a:xfrm>
            <a:off x="1041048" y="1334786"/>
            <a:ext cx="1900221" cy="502127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A5725D2B-E8FB-5358-65D6-D05A8606A217}"/>
              </a:ext>
            </a:extLst>
          </p:cNvPr>
          <p:cNvSpPr/>
          <p:nvPr/>
        </p:nvSpPr>
        <p:spPr>
          <a:xfrm>
            <a:off x="9191896" y="2667000"/>
            <a:ext cx="2804160" cy="240451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4FBA5122-A17C-1E49-82C7-67F2949A1FEC}"/>
              </a:ext>
            </a:extLst>
          </p:cNvPr>
          <p:cNvSpPr txBox="1"/>
          <p:nvPr/>
        </p:nvSpPr>
        <p:spPr>
          <a:xfrm>
            <a:off x="-489192" y="3046391"/>
            <a:ext cx="2057400" cy="646331"/>
          </a:xfrm>
          <a:prstGeom prst="rect">
            <a:avLst/>
          </a:prstGeom>
          <a:noFill/>
        </p:spPr>
        <p:txBody>
          <a:bodyPr wrap="square" rtlCol="0">
            <a:spAutoFit/>
          </a:bodyPr>
          <a:lstStyle/>
          <a:p>
            <a:pPr algn="ctr"/>
            <a:r>
              <a:rPr lang="es-ES" b="1" i="1" u="sng" dirty="0">
                <a:solidFill>
                  <a:schemeClr val="accent4">
                    <a:lumMod val="75000"/>
                  </a:schemeClr>
                </a:solidFill>
              </a:rPr>
              <a:t>MZI</a:t>
            </a:r>
          </a:p>
          <a:p>
            <a:pPr algn="ctr"/>
            <a:r>
              <a:rPr lang="es-ES" b="1" i="1" u="sng" dirty="0" err="1">
                <a:solidFill>
                  <a:schemeClr val="accent4">
                    <a:lumMod val="75000"/>
                  </a:schemeClr>
                </a:solidFill>
              </a:rPr>
              <a:t>cell</a:t>
            </a:r>
            <a:endParaRPr lang="es-ES" b="1" i="1" u="sng" dirty="0">
              <a:solidFill>
                <a:schemeClr val="accent4">
                  <a:lumMod val="75000"/>
                </a:schemeClr>
              </a:solidFill>
            </a:endParaRPr>
          </a:p>
        </p:txBody>
      </p:sp>
      <p:pic>
        <p:nvPicPr>
          <p:cNvPr id="4" name="Imagen 3">
            <a:extLst>
              <a:ext uri="{FF2B5EF4-FFF2-40B4-BE49-F238E27FC236}">
                <a16:creationId xmlns:a16="http://schemas.microsoft.com/office/drawing/2014/main" id="{FA5CFF2A-0BFD-0595-740C-881695F7D9A6}"/>
              </a:ext>
            </a:extLst>
          </p:cNvPr>
          <p:cNvPicPr>
            <a:picLocks noChangeAspect="1"/>
          </p:cNvPicPr>
          <p:nvPr/>
        </p:nvPicPr>
        <p:blipFill>
          <a:blip r:embed="rId4"/>
          <a:srcRect b="10508"/>
          <a:stretch>
            <a:fillRect/>
          </a:stretch>
        </p:blipFill>
        <p:spPr>
          <a:xfrm>
            <a:off x="1110558" y="1384480"/>
            <a:ext cx="1761200" cy="4910274"/>
          </a:xfrm>
          <a:prstGeom prst="rect">
            <a:avLst/>
          </a:prstGeom>
        </p:spPr>
      </p:pic>
      <p:sp>
        <p:nvSpPr>
          <p:cNvPr id="9" name="Rectángulo 8">
            <a:extLst>
              <a:ext uri="{FF2B5EF4-FFF2-40B4-BE49-F238E27FC236}">
                <a16:creationId xmlns:a16="http://schemas.microsoft.com/office/drawing/2014/main" id="{15507FFB-4180-64A2-2066-AA89F66D73EB}"/>
              </a:ext>
            </a:extLst>
          </p:cNvPr>
          <p:cNvSpPr/>
          <p:nvPr/>
        </p:nvSpPr>
        <p:spPr>
          <a:xfrm>
            <a:off x="3103170" y="1334786"/>
            <a:ext cx="1900221" cy="502127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n 10">
            <a:extLst>
              <a:ext uri="{FF2B5EF4-FFF2-40B4-BE49-F238E27FC236}">
                <a16:creationId xmlns:a16="http://schemas.microsoft.com/office/drawing/2014/main" id="{6D7C6896-F8CD-0229-C7D0-A96DB01EB835}"/>
              </a:ext>
            </a:extLst>
          </p:cNvPr>
          <p:cNvPicPr>
            <a:picLocks noChangeAspect="1"/>
          </p:cNvPicPr>
          <p:nvPr/>
        </p:nvPicPr>
        <p:blipFill>
          <a:blip r:embed="rId5"/>
          <a:srcRect b="25411"/>
          <a:stretch>
            <a:fillRect/>
          </a:stretch>
        </p:blipFill>
        <p:spPr>
          <a:xfrm>
            <a:off x="3134273" y="1391975"/>
            <a:ext cx="1865109" cy="4910274"/>
          </a:xfrm>
          <a:prstGeom prst="rect">
            <a:avLst/>
          </a:prstGeom>
        </p:spPr>
      </p:pic>
      <p:sp>
        <p:nvSpPr>
          <p:cNvPr id="14" name="Rectángulo 13">
            <a:extLst>
              <a:ext uri="{FF2B5EF4-FFF2-40B4-BE49-F238E27FC236}">
                <a16:creationId xmlns:a16="http://schemas.microsoft.com/office/drawing/2014/main" id="{277558B4-FCBF-083C-2B7D-595A0F0716E8}"/>
              </a:ext>
            </a:extLst>
          </p:cNvPr>
          <p:cNvSpPr/>
          <p:nvPr/>
        </p:nvSpPr>
        <p:spPr>
          <a:xfrm>
            <a:off x="5199788" y="1334786"/>
            <a:ext cx="1900221" cy="502127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Imagen 17">
            <a:extLst>
              <a:ext uri="{FF2B5EF4-FFF2-40B4-BE49-F238E27FC236}">
                <a16:creationId xmlns:a16="http://schemas.microsoft.com/office/drawing/2014/main" id="{B49F58C6-AD9D-0296-4E48-C880EAF4CE5C}"/>
              </a:ext>
            </a:extLst>
          </p:cNvPr>
          <p:cNvPicPr>
            <a:picLocks noChangeAspect="1"/>
          </p:cNvPicPr>
          <p:nvPr/>
        </p:nvPicPr>
        <p:blipFill>
          <a:blip r:embed="rId6"/>
          <a:srcRect b="24366"/>
          <a:stretch>
            <a:fillRect/>
          </a:stretch>
        </p:blipFill>
        <p:spPr>
          <a:xfrm>
            <a:off x="5249601" y="1384480"/>
            <a:ext cx="1809895" cy="4900188"/>
          </a:xfrm>
          <a:prstGeom prst="rect">
            <a:avLst/>
          </a:prstGeom>
        </p:spPr>
      </p:pic>
      <p:sp>
        <p:nvSpPr>
          <p:cNvPr id="22" name="Rectángulo 21">
            <a:extLst>
              <a:ext uri="{FF2B5EF4-FFF2-40B4-BE49-F238E27FC236}">
                <a16:creationId xmlns:a16="http://schemas.microsoft.com/office/drawing/2014/main" id="{60210E3F-97CE-3BF7-E0A2-9434F5EFBDB4}"/>
              </a:ext>
            </a:extLst>
          </p:cNvPr>
          <p:cNvSpPr/>
          <p:nvPr/>
        </p:nvSpPr>
        <p:spPr>
          <a:xfrm>
            <a:off x="7287003" y="1339396"/>
            <a:ext cx="1750556" cy="502127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Imagen 23">
            <a:extLst>
              <a:ext uri="{FF2B5EF4-FFF2-40B4-BE49-F238E27FC236}">
                <a16:creationId xmlns:a16="http://schemas.microsoft.com/office/drawing/2014/main" id="{13887911-4195-A922-CAC4-05B9C59F82FD}"/>
              </a:ext>
            </a:extLst>
          </p:cNvPr>
          <p:cNvPicPr>
            <a:picLocks noChangeAspect="1"/>
          </p:cNvPicPr>
          <p:nvPr/>
        </p:nvPicPr>
        <p:blipFill>
          <a:blip r:embed="rId7"/>
          <a:stretch>
            <a:fillRect/>
          </a:stretch>
        </p:blipFill>
        <p:spPr>
          <a:xfrm>
            <a:off x="7345613" y="1391975"/>
            <a:ext cx="1628812" cy="4925685"/>
          </a:xfrm>
          <a:prstGeom prst="rect">
            <a:avLst/>
          </a:prstGeom>
        </p:spPr>
      </p:pic>
      <p:pic>
        <p:nvPicPr>
          <p:cNvPr id="26" name="Imagen 25">
            <a:extLst>
              <a:ext uri="{FF2B5EF4-FFF2-40B4-BE49-F238E27FC236}">
                <a16:creationId xmlns:a16="http://schemas.microsoft.com/office/drawing/2014/main" id="{056E19F6-DE7D-A542-0D18-5EA3FD0AE7FE}"/>
              </a:ext>
            </a:extLst>
          </p:cNvPr>
          <p:cNvPicPr>
            <a:picLocks noChangeAspect="1"/>
          </p:cNvPicPr>
          <p:nvPr/>
        </p:nvPicPr>
        <p:blipFill>
          <a:blip r:embed="rId8"/>
          <a:stretch>
            <a:fillRect/>
          </a:stretch>
        </p:blipFill>
        <p:spPr>
          <a:xfrm>
            <a:off x="9224552" y="2740025"/>
            <a:ext cx="2771503" cy="2289175"/>
          </a:xfrm>
          <a:prstGeom prst="rect">
            <a:avLst/>
          </a:prstGeom>
        </p:spPr>
      </p:pic>
    </p:spTree>
    <p:extLst>
      <p:ext uri="{BB962C8B-B14F-4D97-AF65-F5344CB8AC3E}">
        <p14:creationId xmlns:p14="http://schemas.microsoft.com/office/powerpoint/2010/main" val="18931945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3BA63-6227-DDAD-3A64-D871FD4F44F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D32F018-262D-7746-C635-39E5F26CF55F}"/>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#2b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5B642282-6B04-F667-7D94-DFC205D151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8CCA178-BEE1-AA70-CEF0-F199A116E523}"/>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D7A920D8-CABD-1D07-3E5E-B29281F6F40D}"/>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303A4677-0B5A-76AD-7A79-12B0D1340B5B}"/>
              </a:ext>
            </a:extLst>
          </p:cNvPr>
          <p:cNvSpPr/>
          <p:nvPr/>
        </p:nvSpPr>
        <p:spPr>
          <a:xfrm>
            <a:off x="1041048" y="1334786"/>
            <a:ext cx="1900221" cy="502127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60A94954-8635-DEF3-1A6E-D8E1ECA482DB}"/>
              </a:ext>
            </a:extLst>
          </p:cNvPr>
          <p:cNvSpPr/>
          <p:nvPr/>
        </p:nvSpPr>
        <p:spPr>
          <a:xfrm>
            <a:off x="8089757" y="2133600"/>
            <a:ext cx="3590454" cy="29718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874690E-9C93-C2C6-F89B-BF76CA1C434B}"/>
              </a:ext>
            </a:extLst>
          </p:cNvPr>
          <p:cNvSpPr txBox="1"/>
          <p:nvPr/>
        </p:nvSpPr>
        <p:spPr>
          <a:xfrm>
            <a:off x="7964238" y="1317746"/>
            <a:ext cx="2150383" cy="615553"/>
          </a:xfrm>
          <a:prstGeom prst="rect">
            <a:avLst/>
          </a:prstGeom>
          <a:noFill/>
        </p:spPr>
        <p:txBody>
          <a:bodyPr wrap="square" rtlCol="0">
            <a:spAutoFit/>
          </a:bodyPr>
          <a:lstStyle/>
          <a:p>
            <a:pPr algn="ctr"/>
            <a:r>
              <a:rPr lang="es-ES" sz="1700" b="1" i="1" u="sng" dirty="0">
                <a:solidFill>
                  <a:schemeClr val="accent4">
                    <a:lumMod val="75000"/>
                  </a:schemeClr>
                </a:solidFill>
              </a:rPr>
              <a:t>Ring</a:t>
            </a:r>
          </a:p>
          <a:p>
            <a:pPr algn="ctr"/>
            <a:r>
              <a:rPr lang="es-ES" sz="1700" b="1" i="1" u="sng" dirty="0" err="1">
                <a:solidFill>
                  <a:schemeClr val="accent4">
                    <a:lumMod val="75000"/>
                  </a:schemeClr>
                </a:solidFill>
              </a:rPr>
              <a:t>Resonator</a:t>
            </a:r>
            <a:endParaRPr lang="es-ES" sz="1700" b="1" i="1" u="sng" dirty="0">
              <a:solidFill>
                <a:schemeClr val="accent4">
                  <a:lumMod val="75000"/>
                </a:schemeClr>
              </a:solidFill>
            </a:endParaRPr>
          </a:p>
        </p:txBody>
      </p:sp>
      <p:sp>
        <p:nvSpPr>
          <p:cNvPr id="9" name="Rectángulo 8">
            <a:extLst>
              <a:ext uri="{FF2B5EF4-FFF2-40B4-BE49-F238E27FC236}">
                <a16:creationId xmlns:a16="http://schemas.microsoft.com/office/drawing/2014/main" id="{3CDB2EE0-CC01-759B-A2BE-C194C17BBD5B}"/>
              </a:ext>
            </a:extLst>
          </p:cNvPr>
          <p:cNvSpPr/>
          <p:nvPr/>
        </p:nvSpPr>
        <p:spPr>
          <a:xfrm>
            <a:off x="3103170" y="1334786"/>
            <a:ext cx="2150383" cy="502127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3">
            <a:extLst>
              <a:ext uri="{FF2B5EF4-FFF2-40B4-BE49-F238E27FC236}">
                <a16:creationId xmlns:a16="http://schemas.microsoft.com/office/drawing/2014/main" id="{48AE2C09-E2DF-5FEB-BE9B-C01966AEB671}"/>
              </a:ext>
            </a:extLst>
          </p:cNvPr>
          <p:cNvSpPr/>
          <p:nvPr/>
        </p:nvSpPr>
        <p:spPr>
          <a:xfrm>
            <a:off x="5445391" y="1340201"/>
            <a:ext cx="2327009" cy="502127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255C662C-9B80-2921-8119-1C77BB44E11C}"/>
              </a:ext>
            </a:extLst>
          </p:cNvPr>
          <p:cNvPicPr>
            <a:picLocks noChangeAspect="1"/>
          </p:cNvPicPr>
          <p:nvPr/>
        </p:nvPicPr>
        <p:blipFill>
          <a:blip r:embed="rId4"/>
          <a:srcRect b="18078"/>
          <a:stretch>
            <a:fillRect/>
          </a:stretch>
        </p:blipFill>
        <p:spPr>
          <a:xfrm>
            <a:off x="1084250" y="1381371"/>
            <a:ext cx="1822524" cy="4936290"/>
          </a:xfrm>
          <a:prstGeom prst="rect">
            <a:avLst/>
          </a:prstGeom>
        </p:spPr>
      </p:pic>
      <p:pic>
        <p:nvPicPr>
          <p:cNvPr id="10" name="Imagen 9">
            <a:extLst>
              <a:ext uri="{FF2B5EF4-FFF2-40B4-BE49-F238E27FC236}">
                <a16:creationId xmlns:a16="http://schemas.microsoft.com/office/drawing/2014/main" id="{D1B425A6-82FC-D044-66D2-BE1658B28685}"/>
              </a:ext>
            </a:extLst>
          </p:cNvPr>
          <p:cNvPicPr>
            <a:picLocks noChangeAspect="1"/>
          </p:cNvPicPr>
          <p:nvPr/>
        </p:nvPicPr>
        <p:blipFill>
          <a:blip r:embed="rId5"/>
          <a:srcRect l="-1" r="3233"/>
          <a:stretch>
            <a:fillRect/>
          </a:stretch>
        </p:blipFill>
        <p:spPr>
          <a:xfrm>
            <a:off x="3131407" y="1370258"/>
            <a:ext cx="2093908" cy="4947402"/>
          </a:xfrm>
          <a:prstGeom prst="rect">
            <a:avLst/>
          </a:prstGeom>
        </p:spPr>
      </p:pic>
      <p:pic>
        <p:nvPicPr>
          <p:cNvPr id="15" name="Imagen 14">
            <a:extLst>
              <a:ext uri="{FF2B5EF4-FFF2-40B4-BE49-F238E27FC236}">
                <a16:creationId xmlns:a16="http://schemas.microsoft.com/office/drawing/2014/main" id="{FBA616FA-25F2-F30F-1720-F32B1C4758BA}"/>
              </a:ext>
            </a:extLst>
          </p:cNvPr>
          <p:cNvPicPr>
            <a:picLocks noChangeAspect="1"/>
          </p:cNvPicPr>
          <p:nvPr/>
        </p:nvPicPr>
        <p:blipFill>
          <a:blip r:embed="rId6"/>
          <a:stretch>
            <a:fillRect/>
          </a:stretch>
        </p:blipFill>
        <p:spPr>
          <a:xfrm>
            <a:off x="5475468" y="1381371"/>
            <a:ext cx="2266853" cy="4936289"/>
          </a:xfrm>
          <a:prstGeom prst="rect">
            <a:avLst/>
          </a:prstGeom>
        </p:spPr>
      </p:pic>
      <p:pic>
        <p:nvPicPr>
          <p:cNvPr id="19" name="Imagen 18">
            <a:extLst>
              <a:ext uri="{FF2B5EF4-FFF2-40B4-BE49-F238E27FC236}">
                <a16:creationId xmlns:a16="http://schemas.microsoft.com/office/drawing/2014/main" id="{4A407884-07D4-C5AD-7B18-E56961248B76}"/>
              </a:ext>
            </a:extLst>
          </p:cNvPr>
          <p:cNvPicPr>
            <a:picLocks noChangeAspect="1"/>
          </p:cNvPicPr>
          <p:nvPr/>
        </p:nvPicPr>
        <p:blipFill>
          <a:blip r:embed="rId7"/>
          <a:stretch>
            <a:fillRect/>
          </a:stretch>
        </p:blipFill>
        <p:spPr>
          <a:xfrm>
            <a:off x="8131271" y="2167865"/>
            <a:ext cx="3507425" cy="2903269"/>
          </a:xfrm>
          <a:prstGeom prst="rect">
            <a:avLst/>
          </a:prstGeom>
        </p:spPr>
      </p:pic>
    </p:spTree>
    <p:extLst>
      <p:ext uri="{BB962C8B-B14F-4D97-AF65-F5344CB8AC3E}">
        <p14:creationId xmlns:p14="http://schemas.microsoft.com/office/powerpoint/2010/main" val="175811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463A-FEB0-DAC2-C592-982AED782F7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D9825A0-3864-7B82-F4C0-6912BF1AE35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#3 – Notebook section 3. Complete layout</a:t>
            </a:r>
            <a:endParaRPr sz="2500" b="0" i="1" dirty="0">
              <a:latin typeface="+mj-lt"/>
              <a:cs typeface="Lucida Sans"/>
            </a:endParaRPr>
          </a:p>
        </p:txBody>
      </p:sp>
      <p:pic>
        <p:nvPicPr>
          <p:cNvPr id="83" name="Gráfico 82">
            <a:extLst>
              <a:ext uri="{FF2B5EF4-FFF2-40B4-BE49-F238E27FC236}">
                <a16:creationId xmlns:a16="http://schemas.microsoft.com/office/drawing/2014/main" id="{0DEB6AD1-A7A1-CBBC-33E2-C1A03F2E3E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0F7002D-478B-4959-3169-5E518898EBC4}"/>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C305F97E-3B7E-8203-F806-FFA5E41962D7}"/>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58187553-D412-F56C-DD26-11B2C97C2B31}"/>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dirty="0">
                <a:latin typeface="Arial" panose="020B0604020202020204" pitchFamily="34" charset="0"/>
                <a:cs typeface="Arial" panose="020B0604020202020204" pitchFamily="34" charset="0"/>
              </a:rPr>
              <a:t>Read and describe 4 code blocks in section 3</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Python code block 1: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Python code block 2: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Python code block 3: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Python code block 4: </a:t>
            </a: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F4B67F4D-126C-4796-4E73-E68F0F3CB6B3}"/>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4F5FE71-3005-DD28-5A06-1330678AD855}"/>
              </a:ext>
            </a:extLst>
          </p:cNvPr>
          <p:cNvSpPr txBox="1"/>
          <p:nvPr/>
        </p:nvSpPr>
        <p:spPr>
          <a:xfrm>
            <a:off x="7663860" y="3105834"/>
            <a:ext cx="2807885" cy="646331"/>
          </a:xfrm>
          <a:prstGeom prst="rect">
            <a:avLst/>
          </a:prstGeom>
          <a:noFill/>
        </p:spPr>
        <p:txBody>
          <a:bodyPr wrap="none" rtlCol="0">
            <a:spAutoFit/>
          </a:bodyPr>
          <a:lstStyle/>
          <a:p>
            <a:pPr algn="ctr"/>
            <a:r>
              <a:rPr lang="es-ES" dirty="0"/>
              <a:t>Complete </a:t>
            </a:r>
            <a:r>
              <a:rPr lang="es-ES" dirty="0" err="1"/>
              <a:t>layout</a:t>
            </a:r>
            <a:r>
              <a:rPr lang="es-ES" dirty="0"/>
              <a:t> </a:t>
            </a:r>
            <a:r>
              <a:rPr lang="es-ES" dirty="0" err="1"/>
              <a:t>screenshot</a:t>
            </a:r>
            <a:endParaRPr lang="es-ES" dirty="0"/>
          </a:p>
          <a:p>
            <a:pPr algn="ctr"/>
            <a:r>
              <a:rPr lang="es-ES" dirty="0"/>
              <a:t> </a:t>
            </a:r>
            <a:r>
              <a:rPr lang="es-ES" dirty="0" err="1"/>
              <a:t>screenshot</a:t>
            </a:r>
            <a:endParaRPr lang="en-US" dirty="0"/>
          </a:p>
        </p:txBody>
      </p:sp>
    </p:spTree>
    <p:extLst>
      <p:ext uri="{BB962C8B-B14F-4D97-AF65-F5344CB8AC3E}">
        <p14:creationId xmlns:p14="http://schemas.microsoft.com/office/powerpoint/2010/main" val="3190811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787F0-CB2C-2FE5-5614-A0F16A628E7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02B708D-0704-5977-EC6F-88CF05CBBE8F}"/>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25386122-0096-23D3-AB3A-550FBF0A31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13FD8D6-DEAF-544C-DE8A-FEED1CFD257F}"/>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30B40145-CD7B-EB6E-E37D-B6E973BB915B}"/>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C6D55FC-5031-5DAE-893E-BF1355747932}"/>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a) Creating components</a:t>
            </a:r>
          </a:p>
          <a:p>
            <a:pPr algn="just"/>
            <a:r>
              <a:rPr lang="en-US" sz="1200" dirty="0">
                <a:latin typeface="Arial" panose="020B0604020202020204" pitchFamily="34" charset="0"/>
                <a:cs typeface="Arial" panose="020B0604020202020204" pitchFamily="34" charset="0"/>
              </a:rPr>
              <a:t>- Create a cell component for a unbalanced MZI, using 2x2 50:50 MMIs with arm length difference as parameter</a:t>
            </a:r>
          </a:p>
          <a:p>
            <a:pPr algn="just"/>
            <a:r>
              <a:rPr lang="en-US" sz="1200" dirty="0">
                <a:latin typeface="Arial" panose="020B0604020202020204" pitchFamily="34" charset="0"/>
                <a:cs typeface="Arial" panose="020B0604020202020204" pitchFamily="34" charset="0"/>
              </a:rPr>
              <a:t>- Create a cell component based on the previous, where the arms have thermal tuners on top of each one</a:t>
            </a:r>
          </a:p>
          <a:p>
            <a:pPr algn="just"/>
            <a:r>
              <a:rPr lang="en-US" sz="12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a:p>
            <a:pPr algn="just"/>
            <a:r>
              <a:rPr lang="en-US" sz="1200" dirty="0">
                <a:latin typeface="Arial" panose="020B0604020202020204" pitchFamily="34" charset="0"/>
                <a:cs typeface="Arial" panose="020B0604020202020204" pitchFamily="34" charset="0"/>
              </a:rPr>
              <a:t>- Create a cell component based on the previous, where the ring has a thermal tuner on top along all the perimeter</a:t>
            </a:r>
          </a:p>
          <a:p>
            <a:pPr algn="just"/>
            <a:r>
              <a:rPr lang="en-US" sz="1200" dirty="0">
                <a:latin typeface="Arial" panose="020B0604020202020204" pitchFamily="34" charset="0"/>
                <a:cs typeface="Arial" panose="020B0604020202020204" pitchFamily="34" charset="0"/>
              </a:rPr>
              <a:t>- Create a cell component based on existing </a:t>
            </a:r>
            <a:r>
              <a:rPr lang="en-US" sz="1200" dirty="0" err="1">
                <a:latin typeface="Arial" panose="020B0604020202020204" pitchFamily="34" charset="0"/>
                <a:cs typeface="Arial" panose="020B0604020202020204" pitchFamily="34" charset="0"/>
              </a:rPr>
              <a:t>GDSfactory</a:t>
            </a:r>
            <a:r>
              <a:rPr lang="en-US" sz="1200" dirty="0">
                <a:latin typeface="Arial" panose="020B0604020202020204" pitchFamily="34" charset="0"/>
                <a:cs typeface="Arial" panose="020B0604020202020204" pitchFamily="34" charset="0"/>
              </a:rPr>
              <a:t> spiral components, with length as parameter</a:t>
            </a:r>
          </a:p>
          <a:p>
            <a:pPr algn="just"/>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b) Creating die</a:t>
            </a:r>
          </a:p>
          <a:p>
            <a:pPr algn="just"/>
            <a:r>
              <a:rPr lang="en-US" sz="1200" dirty="0">
                <a:latin typeface="Arial" panose="020B0604020202020204" pitchFamily="34" charset="0"/>
                <a:cs typeface="Arial" panose="020B0604020202020204" pitchFamily="34" charset="0"/>
              </a:rPr>
              <a:t>- Create a die  W = 5 mm x L = 10 mm </a:t>
            </a:r>
          </a:p>
          <a:p>
            <a:pPr algn="just"/>
            <a:r>
              <a:rPr lang="en-US" sz="1200" dirty="0">
                <a:latin typeface="Arial" panose="020B0604020202020204" pitchFamily="34" charset="0"/>
                <a:cs typeface="Arial" panose="020B0604020202020204" pitchFamily="34" charset="0"/>
              </a:rPr>
              <a:t>- Create an array of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spaced at 250 µm (as much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as the width allows)</a:t>
            </a:r>
          </a:p>
          <a:p>
            <a:pPr algn="just"/>
            <a:r>
              <a:rPr lang="en-US" sz="1200" dirty="0">
                <a:latin typeface="Arial" panose="020B0604020202020204" pitchFamily="34" charset="0"/>
                <a:cs typeface="Arial" panose="020B0604020202020204" pitchFamily="34" charset="0"/>
              </a:rPr>
              <a:t>- Create a cell component of this die, with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accessible to connect</a:t>
            </a:r>
          </a:p>
          <a:p>
            <a:pPr algn="just"/>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c) </a:t>
            </a:r>
            <a:r>
              <a:rPr lang="en-US" sz="1200" b="1" dirty="0" err="1">
                <a:latin typeface="Arial" panose="020B0604020202020204" pitchFamily="34" charset="0"/>
                <a:cs typeface="Arial" panose="020B0604020202020204" pitchFamily="34" charset="0"/>
              </a:rPr>
              <a:t>Floorplaning</a:t>
            </a:r>
            <a:r>
              <a:rPr lang="en-US" sz="1200" b="1" dirty="0">
                <a:latin typeface="Arial" panose="020B0604020202020204" pitchFamily="34" charset="0"/>
                <a:cs typeface="Arial" panose="020B0604020202020204" pitchFamily="34" charset="0"/>
              </a:rPr>
              <a:t> and die layout</a:t>
            </a:r>
          </a:p>
          <a:p>
            <a:pPr algn="just"/>
            <a:r>
              <a:rPr lang="en-US" sz="1200" dirty="0">
                <a:latin typeface="Arial" panose="020B0604020202020204" pitchFamily="34" charset="0"/>
                <a:cs typeface="Arial" panose="020B0604020202020204" pitchFamily="34" charset="0"/>
              </a:rPr>
              <a:t>- Make an instance of the die as host component for your layout</a:t>
            </a:r>
          </a:p>
          <a:p>
            <a:pPr algn="just"/>
            <a:r>
              <a:rPr lang="en-US" sz="1200" dirty="0">
                <a:latin typeface="Arial" panose="020B0604020202020204" pitchFamily="34" charset="0"/>
                <a:cs typeface="Arial" panose="020B0604020202020204" pitchFamily="34" charset="0"/>
              </a:rPr>
              <a:t>- Add 3 sets of 3 straight waveguides, from left to right of the die, top, middle and bottom of the die</a:t>
            </a:r>
          </a:p>
          <a:p>
            <a:pPr algn="just"/>
            <a:r>
              <a:rPr lang="en-US" sz="1200" dirty="0">
                <a:latin typeface="Arial" panose="020B0604020202020204" pitchFamily="34" charset="0"/>
                <a:cs typeface="Arial" panose="020B0604020202020204" pitchFamily="34" charset="0"/>
              </a:rPr>
              <a:t>- Add 2 of each of the components above, with different lengths</a:t>
            </a:r>
          </a:p>
          <a:p>
            <a:pPr algn="just"/>
            <a:r>
              <a:rPr lang="en-US" sz="1200" dirty="0">
                <a:latin typeface="Arial" panose="020B0604020202020204" pitchFamily="34" charset="0"/>
                <a:cs typeface="Arial" panose="020B0604020202020204" pitchFamily="34" charset="0"/>
              </a:rPr>
              <a:t>- Connect all your components to the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t>
            </a:r>
          </a:p>
        </p:txBody>
      </p:sp>
      <p:sp>
        <p:nvSpPr>
          <p:cNvPr id="8" name="Rectángulo 7">
            <a:extLst>
              <a:ext uri="{FF2B5EF4-FFF2-40B4-BE49-F238E27FC236}">
                <a16:creationId xmlns:a16="http://schemas.microsoft.com/office/drawing/2014/main" id="{B7F15AC0-F440-2DF1-6C9D-0A7E2EAFC2C8}"/>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452515D-9AC0-62DB-2A62-0C197A32C5E7}"/>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spTree>
    <p:extLst>
      <p:ext uri="{BB962C8B-B14F-4D97-AF65-F5344CB8AC3E}">
        <p14:creationId xmlns:p14="http://schemas.microsoft.com/office/powerpoint/2010/main" val="708738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20</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1357</TotalTime>
  <Words>2279</Words>
  <Application>Microsoft Office PowerPoint</Application>
  <PresentationFormat>Panorámica</PresentationFormat>
  <Paragraphs>187</Paragraphs>
  <Slides>20</Slides>
  <Notes>17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Aptos</vt:lpstr>
      <vt:lpstr>Arial</vt:lpstr>
      <vt:lpstr>Calibri</vt:lpstr>
      <vt:lpstr>Lucida Sans</vt:lpstr>
      <vt:lpstr>Wingdings</vt:lpstr>
      <vt:lpstr>Office Theme</vt:lpstr>
      <vt:lpstr>Presentación de PowerPoint</vt:lpstr>
      <vt:lpstr>Instructions General</vt:lpstr>
      <vt:lpstr>Learning outcome #1a – Notebook section 1. Technology “We will work with the demo UPVfab PDK. Let's view the layer distribution of this PDK”</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1 slide per component “Use your design results from Lab2 and Lab3 to create layout instances of your designed components: DCs, MMIs, MZIs &amp; Ring Resonators”</vt:lpstr>
      <vt:lpstr>Learning outcome #2a – Notebook section 2. Layout Fundamentals “Once that we have a working 'new' component, we shall convert it into a Cell. This will allow us to have a hierarchical design”</vt:lpstr>
      <vt:lpstr>Learning outcome #2a – Notebook section 2. Layout Fundamentals “Once that we have a working 'new' component, we shall convert it into a Cell. This will allow us to have a hierarchical design”</vt:lpstr>
      <vt:lpstr>Learning outcome #2b – Notebook section 2. Layout Fundamentals – 1 slide per component “Use your design results from Lab2 and Lab3 to create layout instances of your designed components: DCs, MMIs, MZIs &amp; Ring Resonators”  Make cells for all your components</vt:lpstr>
      <vt:lpstr>Learning outcome #2b – Notebook section 2. Layout Fundamentals – 1 slide per component “Use your design results from Lab2 and Lab3 to create layout instances of your designed components: DCs, MMIs, MZIs &amp; Ring Resonators”  Make cells for all your components</vt:lpstr>
      <vt:lpstr>Learning outcome #2b – Notebook section 2. Layout Fundamentals – 1 slide per component “Use your design results from Lab2 and Lab3 to create layout instances of your designed components: DCs, MMIs, MZIs &amp; Ring Resonators”  Make cells for all your components</vt:lpstr>
      <vt:lpstr>Learning outcome #2b – Notebook section 2. Layout Fundamentals – 1 slide per component “Use your design results from Lab2 and Lab3 to create layout instances of your designed components: DCs, MMIs, MZIs &amp; Ring Resonators”  Make cells for all your components</vt:lpstr>
      <vt:lpstr>Learning outcome #3 – Notebook section 3. Complete layout</vt:lpstr>
      <vt:lpstr>Learning outcome #4 – Notebook section 4. Exercises – 1 slide per bullet 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Lidia Tortola Juan</cp:lastModifiedBy>
  <cp:revision>36</cp:revision>
  <dcterms:created xsi:type="dcterms:W3CDTF">2025-01-27T02:46:57Z</dcterms:created>
  <dcterms:modified xsi:type="dcterms:W3CDTF">2026-06-11T23:11:24Z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